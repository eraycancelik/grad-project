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1" i="0">
                <a:solidFill>
                  <a:srgbClr val="0E152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1" i="0">
                <a:solidFill>
                  <a:srgbClr val="0E152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1" i="0">
                <a:solidFill>
                  <a:srgbClr val="0E152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1" i="0">
                <a:solidFill>
                  <a:srgbClr val="0E152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6900" y="759135"/>
            <a:ext cx="9129259" cy="6865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1" i="0">
                <a:solidFill>
                  <a:srgbClr val="0E152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18138" y="4078643"/>
            <a:ext cx="16452850" cy="3589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21.jpg"/><Relationship Id="rId7" Type="http://schemas.openxmlformats.org/officeDocument/2006/relationships/image" Target="../media/image22.jpg"/><Relationship Id="rId8" Type="http://schemas.openxmlformats.org/officeDocument/2006/relationships/image" Target="../media/image23.jpg"/><Relationship Id="rId9" Type="http://schemas.openxmlformats.org/officeDocument/2006/relationships/image" Target="../media/image24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png"/><Relationship Id="rId6" Type="http://schemas.openxmlformats.org/officeDocument/2006/relationships/image" Target="../media/image29.jpg"/><Relationship Id="rId7" Type="http://schemas.openxmlformats.org/officeDocument/2006/relationships/image" Target="../media/image30.jpg"/><Relationship Id="rId8" Type="http://schemas.openxmlformats.org/officeDocument/2006/relationships/image" Target="../media/image31.png"/><Relationship Id="rId9" Type="http://schemas.openxmlformats.org/officeDocument/2006/relationships/image" Target="../media/image32.jpg"/><Relationship Id="rId10" Type="http://schemas.openxmlformats.org/officeDocument/2006/relationships/image" Target="../media/image33.jpg"/><Relationship Id="rId11" Type="http://schemas.openxmlformats.org/officeDocument/2006/relationships/image" Target="../media/image34.jpg"/><Relationship Id="rId12" Type="http://schemas.openxmlformats.org/officeDocument/2006/relationships/image" Target="../media/image35.jpg"/><Relationship Id="rId13" Type="http://schemas.openxmlformats.org/officeDocument/2006/relationships/image" Target="../media/image3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Relationship Id="rId4" Type="http://schemas.openxmlformats.org/officeDocument/2006/relationships/image" Target="../media/image40.jpg"/><Relationship Id="rId5" Type="http://schemas.openxmlformats.org/officeDocument/2006/relationships/image" Target="../media/image41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jpg"/><Relationship Id="rId5" Type="http://schemas.openxmlformats.org/officeDocument/2006/relationships/image" Target="../media/image45.jpg"/><Relationship Id="rId6" Type="http://schemas.openxmlformats.org/officeDocument/2006/relationships/image" Target="../media/image46.jpg"/><Relationship Id="rId7" Type="http://schemas.openxmlformats.org/officeDocument/2006/relationships/image" Target="../media/image47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Relationship Id="rId3" Type="http://schemas.openxmlformats.org/officeDocument/2006/relationships/image" Target="../media/image49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jpg"/><Relationship Id="rId3" Type="http://schemas.openxmlformats.org/officeDocument/2006/relationships/image" Target="../media/image52.jpg"/><Relationship Id="rId4" Type="http://schemas.openxmlformats.org/officeDocument/2006/relationships/image" Target="../media/image53.jpg"/><Relationship Id="rId5" Type="http://schemas.openxmlformats.org/officeDocument/2006/relationships/image" Target="../media/image54.jpg"/><Relationship Id="rId6" Type="http://schemas.openxmlformats.org/officeDocument/2006/relationships/image" Target="../media/image55.jpg"/><Relationship Id="rId7" Type="http://schemas.openxmlformats.org/officeDocument/2006/relationships/image" Target="../media/image56.jpg"/><Relationship Id="rId8" Type="http://schemas.openxmlformats.org/officeDocument/2006/relationships/image" Target="../media/image57.jpg"/><Relationship Id="rId9" Type="http://schemas.openxmlformats.org/officeDocument/2006/relationships/image" Target="../media/image58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5408" y="3638326"/>
            <a:ext cx="3696754" cy="8189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2394" y="3685576"/>
            <a:ext cx="1211276" cy="566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66593" y="3811576"/>
            <a:ext cx="377540" cy="645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7061" y="3685576"/>
            <a:ext cx="1431509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074533" y="3717076"/>
            <a:ext cx="1698933" cy="74024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6389" y="3685576"/>
            <a:ext cx="1651741" cy="77174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551057" y="3811576"/>
            <a:ext cx="1824780" cy="4567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777827" y="4551824"/>
            <a:ext cx="2564131" cy="62999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652613" y="5570747"/>
            <a:ext cx="151765" cy="23367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350" spc="-25">
                <a:solidFill>
                  <a:srgbClr val="6B7785"/>
                </a:solidFill>
                <a:latin typeface="Arial"/>
                <a:cs typeface="Arial"/>
              </a:rPr>
              <a:t>••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23076" y="5649496"/>
            <a:ext cx="3070225" cy="384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50" spc="75">
                <a:solidFill>
                  <a:srgbClr val="6B7785"/>
                </a:solidFill>
                <a:latin typeface="Arial"/>
                <a:cs typeface="Arial"/>
              </a:rPr>
              <a:t>Bitirme</a:t>
            </a:r>
            <a:r>
              <a:rPr dirty="0" sz="2350" spc="-254">
                <a:solidFill>
                  <a:srgbClr val="6B7785"/>
                </a:solidFill>
                <a:latin typeface="Arial"/>
                <a:cs typeface="Arial"/>
              </a:rPr>
              <a:t> </a:t>
            </a:r>
            <a:r>
              <a:rPr dirty="0" sz="2350" spc="55">
                <a:solidFill>
                  <a:srgbClr val="6B7785"/>
                </a:solidFill>
                <a:latin typeface="Arial"/>
                <a:cs typeface="Arial"/>
              </a:rPr>
              <a:t>Odevi</a:t>
            </a:r>
            <a:r>
              <a:rPr dirty="0" sz="2350" spc="-210">
                <a:solidFill>
                  <a:srgbClr val="6B7785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6B7785"/>
                </a:solidFill>
                <a:latin typeface="Arial"/>
                <a:cs typeface="Arial"/>
              </a:rPr>
              <a:t>Sunumu</a:t>
            </a:r>
            <a:endParaRPr sz="23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61668" y="6850430"/>
            <a:ext cx="13027025" cy="8623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dirty="0" sz="2000" spc="-75" b="1">
                <a:solidFill>
                  <a:srgbClr val="1F2633"/>
                </a:solidFill>
                <a:latin typeface="Arial"/>
                <a:cs typeface="Arial"/>
              </a:rPr>
              <a:t>Geleneksel</a:t>
            </a:r>
            <a:r>
              <a:rPr dirty="0" sz="2000" spc="-30" b="1">
                <a:solidFill>
                  <a:srgbClr val="1F2633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1F2633"/>
                </a:solidFill>
                <a:latin typeface="Arial"/>
                <a:cs typeface="Arial"/>
              </a:rPr>
              <a:t>ve</a:t>
            </a:r>
            <a:r>
              <a:rPr dirty="0" sz="2000" spc="-145" b="1">
                <a:solidFill>
                  <a:srgbClr val="1F2633"/>
                </a:solidFill>
                <a:latin typeface="Arial"/>
                <a:cs typeface="Arial"/>
              </a:rPr>
              <a:t> </a:t>
            </a:r>
            <a:r>
              <a:rPr dirty="0" sz="2000" spc="-105" b="1">
                <a:solidFill>
                  <a:srgbClr val="1F2633"/>
                </a:solidFill>
                <a:latin typeface="Arial"/>
                <a:cs typeface="Arial"/>
              </a:rPr>
              <a:t>Yeni</a:t>
            </a:r>
            <a:r>
              <a:rPr dirty="0" sz="2000" spc="-225" b="1">
                <a:solidFill>
                  <a:srgbClr val="1F2633"/>
                </a:solidFill>
                <a:latin typeface="Arial"/>
                <a:cs typeface="Arial"/>
              </a:rPr>
              <a:t> </a:t>
            </a:r>
            <a:r>
              <a:rPr dirty="0" sz="2000" spc="-90" b="1">
                <a:solidFill>
                  <a:srgbClr val="1F2633"/>
                </a:solidFill>
                <a:latin typeface="Arial"/>
                <a:cs typeface="Arial"/>
              </a:rPr>
              <a:t>Nesil</a:t>
            </a:r>
            <a:r>
              <a:rPr dirty="0" sz="2000" spc="-185" b="1">
                <a:solidFill>
                  <a:srgbClr val="1F2633"/>
                </a:solidFill>
                <a:latin typeface="Arial"/>
                <a:cs typeface="Arial"/>
              </a:rPr>
              <a:t> </a:t>
            </a:r>
            <a:r>
              <a:rPr dirty="0" sz="2000" spc="-114" b="1">
                <a:solidFill>
                  <a:srgbClr val="1F2633"/>
                </a:solidFill>
                <a:latin typeface="Arial"/>
                <a:cs typeface="Arial"/>
              </a:rPr>
              <a:t>Sogutucu</a:t>
            </a:r>
            <a:r>
              <a:rPr dirty="0" sz="2000" spc="-45" b="1">
                <a:solidFill>
                  <a:srgbClr val="1F2633"/>
                </a:solidFill>
                <a:latin typeface="Arial"/>
                <a:cs typeface="Arial"/>
              </a:rPr>
              <a:t> </a:t>
            </a:r>
            <a:r>
              <a:rPr dirty="0" sz="2000" spc="-220" b="1">
                <a:solidFill>
                  <a:srgbClr val="1F2633"/>
                </a:solidFill>
                <a:latin typeface="Arial"/>
                <a:cs typeface="Arial"/>
              </a:rPr>
              <a:t>Ak1�kanlar1n</a:t>
            </a:r>
            <a:r>
              <a:rPr dirty="0" sz="2000" spc="15" b="1">
                <a:solidFill>
                  <a:srgbClr val="1F2633"/>
                </a:solidFill>
                <a:latin typeface="Arial"/>
                <a:cs typeface="Arial"/>
              </a:rPr>
              <a:t> </a:t>
            </a:r>
            <a:r>
              <a:rPr dirty="0" sz="2000" spc="-120" b="1">
                <a:solidFill>
                  <a:srgbClr val="1F2633"/>
                </a:solidFill>
                <a:latin typeface="Arial"/>
                <a:cs typeface="Arial"/>
              </a:rPr>
              <a:t>Termodinamik</a:t>
            </a:r>
            <a:r>
              <a:rPr dirty="0" sz="2000" spc="50" b="1">
                <a:solidFill>
                  <a:srgbClr val="1F2633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1F2633"/>
                </a:solidFill>
                <a:latin typeface="Arial"/>
                <a:cs typeface="Arial"/>
              </a:rPr>
              <a:t>&amp;</a:t>
            </a:r>
            <a:r>
              <a:rPr dirty="0" sz="1950" spc="110">
                <a:solidFill>
                  <a:srgbClr val="1F2633"/>
                </a:solidFill>
                <a:latin typeface="Arial"/>
                <a:cs typeface="Arial"/>
              </a:rPr>
              <a:t> </a:t>
            </a:r>
            <a:r>
              <a:rPr dirty="0" sz="2000" spc="-45" b="1">
                <a:solidFill>
                  <a:srgbClr val="1F2633"/>
                </a:solidFill>
                <a:latin typeface="Arial"/>
                <a:cs typeface="Arial"/>
              </a:rPr>
              <a:t>Makine</a:t>
            </a:r>
            <a:r>
              <a:rPr dirty="0" sz="2000" spc="-105" b="1">
                <a:solidFill>
                  <a:srgbClr val="1F2633"/>
                </a:solidFill>
                <a:latin typeface="Arial"/>
                <a:cs typeface="Arial"/>
              </a:rPr>
              <a:t> </a:t>
            </a:r>
            <a:r>
              <a:rPr dirty="0" sz="2000" spc="-65" b="1">
                <a:solidFill>
                  <a:srgbClr val="1F2633"/>
                </a:solidFill>
                <a:latin typeface="Arial"/>
                <a:cs typeface="Arial"/>
              </a:rPr>
              <a:t>Ogrenmesi</a:t>
            </a:r>
            <a:r>
              <a:rPr dirty="0" sz="2000" spc="-85" b="1">
                <a:solidFill>
                  <a:srgbClr val="1F2633"/>
                </a:solidFill>
                <a:latin typeface="Arial"/>
                <a:cs typeface="Arial"/>
              </a:rPr>
              <a:t> </a:t>
            </a:r>
            <a:r>
              <a:rPr dirty="0" sz="2000" spc="-70" b="1">
                <a:solidFill>
                  <a:srgbClr val="1F2633"/>
                </a:solidFill>
                <a:latin typeface="Arial"/>
                <a:cs typeface="Arial"/>
              </a:rPr>
              <a:t>Yontemleriyle</a:t>
            </a:r>
            <a:r>
              <a:rPr dirty="0" sz="2000" spc="40" b="1">
                <a:solidFill>
                  <a:srgbClr val="1F2633"/>
                </a:solidFill>
                <a:latin typeface="Arial"/>
                <a:cs typeface="Arial"/>
              </a:rPr>
              <a:t> </a:t>
            </a:r>
            <a:r>
              <a:rPr dirty="0" sz="2000" spc="-300" b="1">
                <a:solidFill>
                  <a:srgbClr val="1F2633"/>
                </a:solidFill>
                <a:latin typeface="Arial"/>
                <a:cs typeface="Arial"/>
              </a:rPr>
              <a:t>Kar�1la�t1r1lmas1</a:t>
            </a:r>
            <a:endParaRPr sz="2000">
              <a:latin typeface="Arial"/>
              <a:cs typeface="Arial"/>
            </a:endParaRPr>
          </a:p>
          <a:p>
            <a:pPr algn="ctr" marR="12700">
              <a:lnSpc>
                <a:spcPct val="100000"/>
              </a:lnSpc>
              <a:spcBef>
                <a:spcPts val="2065"/>
              </a:spcBef>
            </a:pPr>
            <a:r>
              <a:rPr dirty="0" sz="1750" spc="-65">
                <a:solidFill>
                  <a:srgbClr val="6B7785"/>
                </a:solidFill>
                <a:latin typeface="Arial"/>
                <a:cs typeface="Arial"/>
              </a:rPr>
              <a:t>R134a</a:t>
            </a:r>
            <a:r>
              <a:rPr dirty="0" sz="1750" spc="-120">
                <a:solidFill>
                  <a:srgbClr val="6B7785"/>
                </a:solidFill>
                <a:latin typeface="Arial"/>
                <a:cs typeface="Arial"/>
              </a:rPr>
              <a:t> </a:t>
            </a:r>
            <a:r>
              <a:rPr dirty="0" sz="1750" spc="-110">
                <a:solidFill>
                  <a:srgbClr val="6B7785"/>
                </a:solidFill>
                <a:latin typeface="Arial"/>
                <a:cs typeface="Arial"/>
              </a:rPr>
              <a:t>•</a:t>
            </a:r>
            <a:r>
              <a:rPr dirty="0" sz="1750" spc="-120">
                <a:solidFill>
                  <a:srgbClr val="6B7785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6B7785"/>
                </a:solidFill>
                <a:latin typeface="Arial"/>
                <a:cs typeface="Arial"/>
              </a:rPr>
              <a:t>R290</a:t>
            </a:r>
            <a:r>
              <a:rPr dirty="0" sz="1750" spc="-140">
                <a:solidFill>
                  <a:srgbClr val="6B7785"/>
                </a:solidFill>
                <a:latin typeface="Arial"/>
                <a:cs typeface="Arial"/>
              </a:rPr>
              <a:t> </a:t>
            </a:r>
            <a:r>
              <a:rPr dirty="0" sz="1750" spc="-110">
                <a:solidFill>
                  <a:srgbClr val="6B7785"/>
                </a:solidFill>
                <a:latin typeface="Arial"/>
                <a:cs typeface="Arial"/>
              </a:rPr>
              <a:t>•</a:t>
            </a:r>
            <a:r>
              <a:rPr dirty="0" sz="1750" spc="-120">
                <a:solidFill>
                  <a:srgbClr val="6B7785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6B7785"/>
                </a:solidFill>
                <a:latin typeface="Arial"/>
                <a:cs typeface="Arial"/>
              </a:rPr>
              <a:t>R1234yf</a:t>
            </a:r>
            <a:r>
              <a:rPr dirty="0" sz="1750" spc="40">
                <a:solidFill>
                  <a:srgbClr val="6B7785"/>
                </a:solidFill>
                <a:latin typeface="Arial"/>
                <a:cs typeface="Arial"/>
              </a:rPr>
              <a:t> </a:t>
            </a:r>
            <a:r>
              <a:rPr dirty="0" sz="1750" spc="-110">
                <a:solidFill>
                  <a:srgbClr val="6B7785"/>
                </a:solidFill>
                <a:latin typeface="Arial"/>
                <a:cs typeface="Arial"/>
              </a:rPr>
              <a:t>•</a:t>
            </a:r>
            <a:r>
              <a:rPr dirty="0" sz="1750" spc="-120">
                <a:solidFill>
                  <a:srgbClr val="6B7785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6B7785"/>
                </a:solidFill>
                <a:latin typeface="Arial"/>
                <a:cs typeface="Arial"/>
              </a:rPr>
              <a:t>R744</a:t>
            </a:r>
            <a:r>
              <a:rPr dirty="0" sz="1750" spc="-220">
                <a:solidFill>
                  <a:srgbClr val="6B7785"/>
                </a:solidFill>
                <a:latin typeface="Arial"/>
                <a:cs typeface="Arial"/>
              </a:rPr>
              <a:t> </a:t>
            </a:r>
            <a:r>
              <a:rPr dirty="0" sz="1750" spc="-110">
                <a:solidFill>
                  <a:srgbClr val="6B7785"/>
                </a:solidFill>
                <a:latin typeface="Arial"/>
                <a:cs typeface="Arial"/>
              </a:rPr>
              <a:t>•</a:t>
            </a:r>
            <a:r>
              <a:rPr dirty="0" sz="1750" spc="-120">
                <a:solidFill>
                  <a:srgbClr val="6B7785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6B7785"/>
                </a:solidFill>
                <a:latin typeface="Arial"/>
                <a:cs typeface="Arial"/>
              </a:rPr>
              <a:t>R600a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6917" y="5055823"/>
            <a:ext cx="424733" cy="535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57546" y="5024323"/>
            <a:ext cx="424733" cy="566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1049" y="5024323"/>
            <a:ext cx="2548401" cy="7717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61073" y="4992823"/>
            <a:ext cx="3036057" cy="59849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422786" y="4417947"/>
            <a:ext cx="1274445" cy="0"/>
          </a:xfrm>
          <a:custGeom>
            <a:avLst/>
            <a:gdLst/>
            <a:ahLst/>
            <a:cxnLst/>
            <a:rect l="l" t="t" r="r" b="b"/>
            <a:pathLst>
              <a:path w="1274445" h="0">
                <a:moveTo>
                  <a:pt x="0" y="0"/>
                </a:moveTo>
                <a:lnTo>
                  <a:pt x="1274199" y="0"/>
                </a:lnTo>
              </a:path>
            </a:pathLst>
          </a:custGeom>
          <a:ln w="629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632291" y="4676937"/>
            <a:ext cx="5936615" cy="1040765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66825">
              <a:lnSpc>
                <a:spcPts val="3950"/>
              </a:lnSpc>
              <a:spcBef>
                <a:spcPts val="130"/>
              </a:spcBef>
            </a:pPr>
            <a:r>
              <a:rPr dirty="0" sz="4400" spc="-50" b="0">
                <a:solidFill>
                  <a:srgbClr val="0E1628"/>
                </a:solidFill>
                <a:latin typeface="Arial"/>
                <a:cs typeface="Arial"/>
              </a:rPr>
              <a:t>•</a:t>
            </a:r>
            <a:endParaRPr sz="4400">
              <a:latin typeface="Arial"/>
              <a:cs typeface="Arial"/>
            </a:endParaRPr>
          </a:p>
          <a:p>
            <a:pPr marL="12700">
              <a:lnSpc>
                <a:spcPts val="4010"/>
              </a:lnSpc>
              <a:tabLst>
                <a:tab pos="4704715" algn="l"/>
              </a:tabLst>
            </a:pPr>
            <a:r>
              <a:rPr dirty="0" sz="4450" spc="655">
                <a:solidFill>
                  <a:srgbClr val="0E1628"/>
                </a:solidFill>
              </a:rPr>
              <a:t>eor1</a:t>
            </a:r>
            <a:r>
              <a:rPr dirty="0" sz="4450">
                <a:solidFill>
                  <a:srgbClr val="0E1628"/>
                </a:solidFill>
              </a:rPr>
              <a:t>	</a:t>
            </a:r>
            <a:r>
              <a:rPr dirty="0" sz="4450" spc="685">
                <a:solidFill>
                  <a:srgbClr val="0E1628"/>
                </a:solidFill>
              </a:rPr>
              <a:t>1ve</a:t>
            </a:r>
            <a:endParaRPr sz="4450"/>
          </a:p>
        </p:txBody>
      </p:sp>
      <p:sp>
        <p:nvSpPr>
          <p:cNvPr id="8" name="object 8"/>
          <p:cNvSpPr txBox="1"/>
          <p:nvPr/>
        </p:nvSpPr>
        <p:spPr>
          <a:xfrm>
            <a:off x="5276301" y="6081046"/>
            <a:ext cx="9602470" cy="860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94100" marR="5080" indent="-3582035">
              <a:lnSpc>
                <a:spcPct val="130400"/>
              </a:lnSpc>
              <a:spcBef>
                <a:spcPts val="95"/>
              </a:spcBef>
            </a:pPr>
            <a:r>
              <a:rPr dirty="0" sz="2100">
                <a:solidFill>
                  <a:srgbClr val="495464"/>
                </a:solidFill>
                <a:latin typeface="Arial"/>
                <a:cs typeface="Arial"/>
              </a:rPr>
              <a:t>Suhar</a:t>
            </a:r>
            <a:r>
              <a:rPr dirty="0" sz="2100" spc="130">
                <a:solidFill>
                  <a:srgbClr val="495464"/>
                </a:solidFill>
                <a:latin typeface="Arial"/>
                <a:cs typeface="Arial"/>
              </a:rPr>
              <a:t> </a:t>
            </a:r>
            <a:r>
              <a:rPr dirty="0" sz="2100" spc="-190">
                <a:solidFill>
                  <a:srgbClr val="495464"/>
                </a:solidFill>
                <a:latin typeface="Arial"/>
                <a:cs typeface="Arial"/>
              </a:rPr>
              <a:t>s1k1�t1rmal1</a:t>
            </a:r>
            <a:r>
              <a:rPr dirty="0" sz="2100" spc="125">
                <a:solidFill>
                  <a:srgbClr val="495464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95464"/>
                </a:solidFill>
                <a:latin typeface="Arial"/>
                <a:cs typeface="Arial"/>
              </a:rPr>
              <a:t>sogutma</a:t>
            </a:r>
            <a:r>
              <a:rPr dirty="0" sz="2100" spc="-60">
                <a:solidFill>
                  <a:srgbClr val="495464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95464"/>
                </a:solidFill>
                <a:latin typeface="Arial"/>
                <a:cs typeface="Arial"/>
              </a:rPr>
              <a:t>�evrimlerinin</a:t>
            </a:r>
            <a:r>
              <a:rPr dirty="0" sz="2100" spc="195">
                <a:solidFill>
                  <a:srgbClr val="495464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95464"/>
                </a:solidFill>
                <a:latin typeface="Arial"/>
                <a:cs typeface="Arial"/>
              </a:rPr>
              <a:t>modellenmesi,</a:t>
            </a:r>
            <a:r>
              <a:rPr dirty="0" sz="2100" spc="290">
                <a:solidFill>
                  <a:srgbClr val="495464"/>
                </a:solidFill>
                <a:latin typeface="Arial"/>
                <a:cs typeface="Arial"/>
              </a:rPr>
              <a:t> </a:t>
            </a:r>
            <a:r>
              <a:rPr dirty="0" sz="2100" spc="95">
                <a:solidFill>
                  <a:srgbClr val="495464"/>
                </a:solidFill>
                <a:latin typeface="Arial"/>
                <a:cs typeface="Arial"/>
              </a:rPr>
              <a:t>durum</a:t>
            </a:r>
            <a:r>
              <a:rPr dirty="0" sz="2100" spc="10">
                <a:solidFill>
                  <a:srgbClr val="495464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95464"/>
                </a:solidFill>
                <a:latin typeface="Arial"/>
                <a:cs typeface="Arial"/>
              </a:rPr>
              <a:t>denklemleri</a:t>
            </a:r>
            <a:r>
              <a:rPr dirty="0" sz="2100" spc="345">
                <a:solidFill>
                  <a:srgbClr val="495464"/>
                </a:solidFill>
                <a:latin typeface="Arial"/>
                <a:cs typeface="Arial"/>
              </a:rPr>
              <a:t> </a:t>
            </a:r>
            <a:r>
              <a:rPr dirty="0" sz="2100" spc="-360">
                <a:solidFill>
                  <a:srgbClr val="495464"/>
                </a:solidFill>
                <a:latin typeface="Arial"/>
                <a:cs typeface="Arial"/>
              </a:rPr>
              <a:t>ve </a:t>
            </a:r>
            <a:r>
              <a:rPr dirty="0" sz="2100">
                <a:solidFill>
                  <a:srgbClr val="495464"/>
                </a:solidFill>
                <a:latin typeface="Arial"/>
                <a:cs typeface="Arial"/>
              </a:rPr>
              <a:t>analiz</a:t>
            </a:r>
            <a:r>
              <a:rPr dirty="0" sz="2100" spc="-25">
                <a:solidFill>
                  <a:srgbClr val="495464"/>
                </a:solidFill>
                <a:latin typeface="Arial"/>
                <a:cs typeface="Arial"/>
              </a:rPr>
              <a:t> </a:t>
            </a:r>
            <a:r>
              <a:rPr dirty="0" sz="2100" spc="65">
                <a:solidFill>
                  <a:srgbClr val="495464"/>
                </a:solidFill>
                <a:latin typeface="Arial"/>
                <a:cs typeface="Arial"/>
              </a:rPr>
              <a:t>metodolojisi.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4200" y="945081"/>
            <a:ext cx="361810" cy="519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70027" y="4851073"/>
            <a:ext cx="7000236" cy="42524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75313" y="724581"/>
            <a:ext cx="0" cy="819150"/>
          </a:xfrm>
          <a:custGeom>
            <a:avLst/>
            <a:gdLst/>
            <a:ahLst/>
            <a:cxnLst/>
            <a:rect l="l" t="t" r="r" b="b"/>
            <a:pathLst>
              <a:path w="0" h="819150">
                <a:moveTo>
                  <a:pt x="0" y="818997"/>
                </a:moveTo>
                <a:lnTo>
                  <a:pt x="0" y="0"/>
                </a:lnTo>
              </a:path>
            </a:pathLst>
          </a:custGeom>
          <a:ln w="786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448309">
              <a:lnSpc>
                <a:spcPct val="100000"/>
              </a:lnSpc>
              <a:spcBef>
                <a:spcPts val="125"/>
              </a:spcBef>
            </a:pPr>
            <a:r>
              <a:rPr dirty="0" sz="4250" spc="150">
                <a:solidFill>
                  <a:srgbClr val="0E1626"/>
                </a:solidFill>
              </a:rPr>
              <a:t>evrim</a:t>
            </a:r>
            <a:r>
              <a:rPr dirty="0" sz="4250" spc="-170">
                <a:solidFill>
                  <a:srgbClr val="0E1626"/>
                </a:solidFill>
              </a:rPr>
              <a:t> </a:t>
            </a:r>
            <a:r>
              <a:rPr dirty="0" sz="4250" spc="105">
                <a:solidFill>
                  <a:srgbClr val="0E1626"/>
                </a:solidFill>
              </a:rPr>
              <a:t>Durum</a:t>
            </a:r>
            <a:r>
              <a:rPr dirty="0" sz="4250" spc="-125">
                <a:solidFill>
                  <a:srgbClr val="0E1626"/>
                </a:solidFill>
              </a:rPr>
              <a:t> </a:t>
            </a:r>
            <a:r>
              <a:rPr dirty="0" sz="4250" spc="-10">
                <a:solidFill>
                  <a:srgbClr val="0E1626"/>
                </a:solidFill>
              </a:rPr>
              <a:t>Noktalar1</a:t>
            </a:r>
            <a:endParaRPr sz="4250"/>
          </a:p>
        </p:txBody>
      </p:sp>
      <p:sp>
        <p:nvSpPr>
          <p:cNvPr id="6" name="object 6"/>
          <p:cNvSpPr txBox="1"/>
          <p:nvPr/>
        </p:nvSpPr>
        <p:spPr>
          <a:xfrm>
            <a:off x="1405543" y="4755686"/>
            <a:ext cx="6952615" cy="14668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100" spc="75" b="1">
                <a:solidFill>
                  <a:srgbClr val="0FA1E1"/>
                </a:solidFill>
                <a:latin typeface="Arial"/>
                <a:cs typeface="Arial"/>
              </a:rPr>
              <a:t>Durum</a:t>
            </a:r>
            <a:r>
              <a:rPr dirty="0" sz="3100" spc="-385" b="1">
                <a:solidFill>
                  <a:srgbClr val="0FA1E1"/>
                </a:solidFill>
                <a:latin typeface="Arial"/>
                <a:cs typeface="Arial"/>
              </a:rPr>
              <a:t> </a:t>
            </a:r>
            <a:r>
              <a:rPr dirty="0" sz="2950" spc="140" b="1">
                <a:solidFill>
                  <a:srgbClr val="0FA1E1"/>
                </a:solidFill>
                <a:latin typeface="Arial"/>
                <a:cs typeface="Arial"/>
              </a:rPr>
              <a:t>1</a:t>
            </a:r>
            <a:r>
              <a:rPr dirty="0" sz="2700" spc="140" b="1">
                <a:solidFill>
                  <a:srgbClr val="0FA1E1"/>
                </a:solidFill>
                <a:latin typeface="Arial"/>
                <a:cs typeface="Arial"/>
              </a:rPr>
              <a:t>&amp;</a:t>
            </a:r>
            <a:r>
              <a:rPr dirty="0" sz="2700" spc="355" b="1">
                <a:solidFill>
                  <a:srgbClr val="0FA1E1"/>
                </a:solidFill>
                <a:latin typeface="Arial"/>
                <a:cs typeface="Arial"/>
              </a:rPr>
              <a:t> </a:t>
            </a:r>
            <a:r>
              <a:rPr dirty="0" sz="2950" spc="90" b="1">
                <a:solidFill>
                  <a:srgbClr val="0FA1E1"/>
                </a:solidFill>
                <a:latin typeface="Arial"/>
                <a:cs typeface="Arial"/>
              </a:rPr>
              <a:t>2:</a:t>
            </a:r>
            <a:r>
              <a:rPr dirty="0" sz="2950" spc="-530" b="1">
                <a:solidFill>
                  <a:srgbClr val="0FA1E1"/>
                </a:solidFill>
                <a:latin typeface="Arial"/>
                <a:cs typeface="Arial"/>
              </a:rPr>
              <a:t> </a:t>
            </a:r>
            <a:r>
              <a:rPr dirty="0" sz="3100" spc="-10" b="1">
                <a:solidFill>
                  <a:srgbClr val="0FA1E1"/>
                </a:solidFill>
                <a:latin typeface="Arial"/>
                <a:cs typeface="Arial"/>
              </a:rPr>
              <a:t>Kompresyon</a:t>
            </a:r>
            <a:endParaRPr sz="3100">
              <a:latin typeface="Arial"/>
              <a:cs typeface="Arial"/>
            </a:endParaRPr>
          </a:p>
          <a:p>
            <a:pPr marL="20955" marR="5080" indent="1270">
              <a:lnSpc>
                <a:spcPct val="124000"/>
              </a:lnSpc>
              <a:spcBef>
                <a:spcPts val="1639"/>
              </a:spcBef>
            </a:pPr>
            <a:r>
              <a:rPr dirty="0" sz="2000" spc="-65" b="1">
                <a:solidFill>
                  <a:srgbClr val="4F5662"/>
                </a:solidFill>
                <a:latin typeface="Arial"/>
                <a:cs typeface="Arial"/>
              </a:rPr>
              <a:t>Durum</a:t>
            </a:r>
            <a:r>
              <a:rPr dirty="0" sz="2000" spc="-204" b="1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4F5662"/>
                </a:solidFill>
                <a:latin typeface="Arial"/>
                <a:cs typeface="Arial"/>
              </a:rPr>
              <a:t>1</a:t>
            </a:r>
            <a:r>
              <a:rPr dirty="0" sz="2000" spc="-125" b="1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105" b="1">
                <a:solidFill>
                  <a:srgbClr val="4F5662"/>
                </a:solidFill>
                <a:latin typeface="Arial"/>
                <a:cs typeface="Arial"/>
              </a:rPr>
              <a:t>(Kompresor</a:t>
            </a:r>
            <a:r>
              <a:rPr dirty="0" sz="2000" spc="80" b="1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95" b="1">
                <a:solidFill>
                  <a:srgbClr val="4F5662"/>
                </a:solidFill>
                <a:latin typeface="Arial"/>
                <a:cs typeface="Arial"/>
              </a:rPr>
              <a:t>Giri�i):</a:t>
            </a:r>
            <a:r>
              <a:rPr dirty="0" sz="2000" spc="-200" b="1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105">
                <a:solidFill>
                  <a:srgbClr val="4F5662"/>
                </a:solidFill>
                <a:latin typeface="Arial"/>
                <a:cs typeface="Arial"/>
              </a:rPr>
              <a:t>Super</a:t>
            </a:r>
            <a:r>
              <a:rPr dirty="0" sz="2000" spc="-15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350">
                <a:solidFill>
                  <a:srgbClr val="3B5475"/>
                </a:solidFill>
                <a:latin typeface="Arial"/>
                <a:cs typeface="Arial"/>
              </a:rPr>
              <a:t>1s1t1lm1�</a:t>
            </a:r>
            <a:r>
              <a:rPr dirty="0" sz="2000" spc="-55">
                <a:solidFill>
                  <a:srgbClr val="3B5475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4F5662"/>
                </a:solidFill>
                <a:latin typeface="Arial"/>
                <a:cs typeface="Arial"/>
              </a:rPr>
              <a:t>buhar</a:t>
            </a:r>
            <a:r>
              <a:rPr dirty="0" sz="2000" spc="-135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4F5662"/>
                </a:solidFill>
                <a:latin typeface="Arial"/>
                <a:cs typeface="Arial"/>
              </a:rPr>
              <a:t>halindedir. </a:t>
            </a:r>
            <a:r>
              <a:rPr dirty="0" sz="2000" spc="-40">
                <a:solidFill>
                  <a:srgbClr val="4F5662"/>
                </a:solidFill>
                <a:latin typeface="Arial"/>
                <a:cs typeface="Arial"/>
              </a:rPr>
              <a:t>Evaporatorden</a:t>
            </a:r>
            <a:r>
              <a:rPr dirty="0" sz="2000" spc="1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4F5662"/>
                </a:solidFill>
                <a:latin typeface="Arial"/>
                <a:cs typeface="Arial"/>
              </a:rPr>
              <a:t>gelen</a:t>
            </a:r>
            <a:r>
              <a:rPr dirty="0" sz="2000" spc="-17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270">
                <a:solidFill>
                  <a:srgbClr val="4F5662"/>
                </a:solidFill>
                <a:latin typeface="Arial"/>
                <a:cs typeface="Arial"/>
              </a:rPr>
              <a:t>ak1�kan1n</a:t>
            </a:r>
            <a:r>
              <a:rPr dirty="0" sz="2000" spc="2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4F5662"/>
                </a:solidFill>
                <a:latin typeface="Arial"/>
                <a:cs typeface="Arial"/>
              </a:rPr>
              <a:t>kompresore</a:t>
            </a:r>
            <a:r>
              <a:rPr dirty="0" sz="2000" spc="-85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335">
                <a:solidFill>
                  <a:srgbClr val="4F5662"/>
                </a:solidFill>
                <a:latin typeface="Arial"/>
                <a:cs typeface="Arial"/>
              </a:rPr>
              <a:t>s1v1</a:t>
            </a:r>
            <a:r>
              <a:rPr dirty="0" sz="2000" spc="-27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400">
                <a:solidFill>
                  <a:srgbClr val="4F5662"/>
                </a:solidFill>
                <a:latin typeface="Arial"/>
                <a:cs typeface="Arial"/>
              </a:rPr>
              <a:t>kac;1�1</a:t>
            </a:r>
            <a:r>
              <a:rPr dirty="0" sz="2000" spc="-185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4F5662"/>
                </a:solidFill>
                <a:latin typeface="Arial"/>
                <a:cs typeface="Arial"/>
              </a:rPr>
              <a:t>engellenir.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5741" y="6385807"/>
            <a:ext cx="7287895" cy="7816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4000"/>
              </a:lnSpc>
              <a:spcBef>
                <a:spcPts val="95"/>
              </a:spcBef>
            </a:pPr>
            <a:r>
              <a:rPr dirty="0" sz="2000" spc="-65" b="1">
                <a:solidFill>
                  <a:srgbClr val="4F5662"/>
                </a:solidFill>
                <a:latin typeface="Arial"/>
                <a:cs typeface="Arial"/>
              </a:rPr>
              <a:t>Durum</a:t>
            </a:r>
            <a:r>
              <a:rPr dirty="0" sz="2000" spc="-235" b="1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4F5662"/>
                </a:solidFill>
                <a:latin typeface="Arial"/>
                <a:cs typeface="Arial"/>
              </a:rPr>
              <a:t>2</a:t>
            </a:r>
            <a:r>
              <a:rPr dirty="0" sz="2000" spc="-120" b="1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105" b="1">
                <a:solidFill>
                  <a:srgbClr val="4F5662"/>
                </a:solidFill>
                <a:latin typeface="Arial"/>
                <a:cs typeface="Arial"/>
              </a:rPr>
              <a:t>(Kompresor</a:t>
            </a:r>
            <a:r>
              <a:rPr dirty="0" sz="2000" spc="65" b="1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1900" spc="-285" b="1">
                <a:solidFill>
                  <a:srgbClr val="4F5662"/>
                </a:solidFill>
                <a:latin typeface="Arial"/>
                <a:cs typeface="Arial"/>
              </a:rPr>
              <a:t>C1k1�1):</a:t>
            </a:r>
            <a:r>
              <a:rPr dirty="0" sz="1900" spc="-170" b="1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145">
                <a:solidFill>
                  <a:srgbClr val="4F5662"/>
                </a:solidFill>
                <a:latin typeface="Arial"/>
                <a:cs typeface="Arial"/>
              </a:rPr>
              <a:t>Gerc;ek</a:t>
            </a:r>
            <a:r>
              <a:rPr dirty="0" sz="2000" spc="-125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4F5662"/>
                </a:solidFill>
                <a:latin typeface="Arial"/>
                <a:cs typeface="Arial"/>
              </a:rPr>
              <a:t>kompresyon</a:t>
            </a:r>
            <a:r>
              <a:rPr dirty="0" sz="2000" spc="-2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145">
                <a:solidFill>
                  <a:srgbClr val="4F5662"/>
                </a:solidFill>
                <a:latin typeface="Arial"/>
                <a:cs typeface="Arial"/>
              </a:rPr>
              <a:t>sOreci</a:t>
            </a:r>
            <a:r>
              <a:rPr dirty="0" sz="2000" spc="-10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3B5475"/>
                </a:solidFill>
                <a:latin typeface="Arial"/>
                <a:cs typeface="Arial"/>
              </a:rPr>
              <a:t>izantropik </a:t>
            </a:r>
            <a:r>
              <a:rPr dirty="0" sz="2000" spc="-25">
                <a:solidFill>
                  <a:srgbClr val="4F5662"/>
                </a:solidFill>
                <a:latin typeface="Arial"/>
                <a:cs typeface="Arial"/>
              </a:rPr>
              <a:t>verim</a:t>
            </a:r>
            <a:r>
              <a:rPr dirty="0" sz="2000" spc="-14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4F5662"/>
                </a:solidFill>
                <a:latin typeface="Arial"/>
                <a:cs typeface="Arial"/>
              </a:rPr>
              <a:t>dikkate</a:t>
            </a:r>
            <a:r>
              <a:rPr dirty="0" sz="2000" spc="-235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4F5662"/>
                </a:solidFill>
                <a:latin typeface="Arial"/>
                <a:cs typeface="Arial"/>
              </a:rPr>
              <a:t>allnarak</a:t>
            </a:r>
            <a:r>
              <a:rPr dirty="0" sz="2000" spc="-12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4F5662"/>
                </a:solidFill>
                <a:latin typeface="Arial"/>
                <a:cs typeface="Arial"/>
              </a:rPr>
              <a:t>modellenir</a:t>
            </a:r>
            <a:r>
              <a:rPr dirty="0" sz="2000" spc="-15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4F5662"/>
                </a:solidFill>
                <a:latin typeface="Arial"/>
                <a:cs typeface="Arial"/>
              </a:rPr>
              <a:t>ve</a:t>
            </a:r>
            <a:r>
              <a:rPr dirty="0" sz="2000" spc="-28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275">
                <a:solidFill>
                  <a:srgbClr val="4F5662"/>
                </a:solidFill>
                <a:latin typeface="Arial"/>
                <a:cs typeface="Arial"/>
              </a:rPr>
              <a:t>k1zg1n</a:t>
            </a:r>
            <a:r>
              <a:rPr dirty="0" sz="2000" spc="-7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35">
                <a:solidFill>
                  <a:srgbClr val="4F5662"/>
                </a:solidFill>
                <a:latin typeface="Arial"/>
                <a:cs typeface="Arial"/>
              </a:rPr>
              <a:t>buhar</a:t>
            </a:r>
            <a:r>
              <a:rPr dirty="0" sz="2000" spc="-95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185">
                <a:solidFill>
                  <a:srgbClr val="4F5662"/>
                </a:solidFill>
                <a:latin typeface="Arial"/>
                <a:cs typeface="Arial"/>
              </a:rPr>
              <a:t>faz1na</a:t>
            </a:r>
            <a:r>
              <a:rPr dirty="0" sz="2000" spc="-85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4F5662"/>
                </a:solidFill>
                <a:latin typeface="Arial"/>
                <a:cs typeface="Arial"/>
              </a:rPr>
              <a:t>ula�1l1r.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53243" y="5440809"/>
            <a:ext cx="7690484" cy="11595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635">
              <a:lnSpc>
                <a:spcPct val="124000"/>
              </a:lnSpc>
              <a:spcBef>
                <a:spcPts val="95"/>
              </a:spcBef>
            </a:pPr>
            <a:r>
              <a:rPr dirty="0" sz="2000" spc="-65" b="1">
                <a:solidFill>
                  <a:srgbClr val="4F5662"/>
                </a:solidFill>
                <a:latin typeface="Arial"/>
                <a:cs typeface="Arial"/>
              </a:rPr>
              <a:t>Durum</a:t>
            </a:r>
            <a:r>
              <a:rPr dirty="0" sz="2000" spc="-175" b="1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85" b="1">
                <a:solidFill>
                  <a:srgbClr val="4F5662"/>
                </a:solidFill>
                <a:latin typeface="Arial"/>
                <a:cs typeface="Arial"/>
              </a:rPr>
              <a:t>3</a:t>
            </a:r>
            <a:r>
              <a:rPr dirty="0" sz="2000" spc="-285" b="1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105" b="1">
                <a:solidFill>
                  <a:srgbClr val="4F5662"/>
                </a:solidFill>
                <a:latin typeface="Arial"/>
                <a:cs typeface="Arial"/>
              </a:rPr>
              <a:t>(Kondenser</a:t>
            </a:r>
            <a:r>
              <a:rPr dirty="0" sz="2000" spc="65" b="1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1900" spc="-285" b="1">
                <a:solidFill>
                  <a:srgbClr val="4F5662"/>
                </a:solidFill>
                <a:latin typeface="Arial"/>
                <a:cs typeface="Arial"/>
              </a:rPr>
              <a:t>C1k1�1):</a:t>
            </a:r>
            <a:r>
              <a:rPr dirty="0" sz="1900" spc="-130" b="1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4F5662"/>
                </a:solidFill>
                <a:latin typeface="Arial"/>
                <a:cs typeface="Arial"/>
              </a:rPr>
              <a:t>Subkritik</a:t>
            </a:r>
            <a:r>
              <a:rPr dirty="0" sz="2000" spc="-90">
                <a:solidFill>
                  <a:srgbClr val="4F5662"/>
                </a:solidFill>
                <a:latin typeface="Arial"/>
                <a:cs typeface="Arial"/>
              </a:rPr>
              <a:t> c;evrimlerde</a:t>
            </a:r>
            <a:r>
              <a:rPr dirty="0" sz="2000" spc="-65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F5662"/>
                </a:solidFill>
                <a:latin typeface="Arial"/>
                <a:cs typeface="Arial"/>
              </a:rPr>
              <a:t>alt</a:t>
            </a:r>
            <a:r>
              <a:rPr dirty="0" sz="2000" spc="-135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4F5662"/>
                </a:solidFill>
                <a:latin typeface="Arial"/>
                <a:cs typeface="Arial"/>
              </a:rPr>
              <a:t>sogutulmu�</a:t>
            </a:r>
            <a:r>
              <a:rPr dirty="0" sz="2000" spc="-114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470">
                <a:solidFill>
                  <a:srgbClr val="4F5662"/>
                </a:solidFill>
                <a:latin typeface="Arial"/>
                <a:cs typeface="Arial"/>
              </a:rPr>
              <a:t>s1v1,</a:t>
            </a:r>
            <a:r>
              <a:rPr dirty="0" sz="2000">
                <a:solidFill>
                  <a:srgbClr val="4F5662"/>
                </a:solidFill>
                <a:latin typeface="Arial"/>
                <a:cs typeface="Arial"/>
              </a:rPr>
              <a:t> transkritik</a:t>
            </a:r>
            <a:r>
              <a:rPr dirty="0" sz="2000" spc="-6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4F5662"/>
                </a:solidFill>
                <a:latin typeface="Arial"/>
                <a:cs typeface="Arial"/>
              </a:rPr>
              <a:t>R744</a:t>
            </a:r>
            <a:r>
              <a:rPr dirty="0" sz="2000" spc="-195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95">
                <a:solidFill>
                  <a:srgbClr val="4F5662"/>
                </a:solidFill>
                <a:latin typeface="Arial"/>
                <a:cs typeface="Arial"/>
              </a:rPr>
              <a:t>c;evriminde</a:t>
            </a:r>
            <a:r>
              <a:rPr dirty="0" sz="2000" spc="-11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30">
                <a:solidFill>
                  <a:srgbClr val="3B5475"/>
                </a:solidFill>
                <a:latin typeface="Arial"/>
                <a:cs typeface="Arial"/>
              </a:rPr>
              <a:t>ise</a:t>
            </a:r>
            <a:r>
              <a:rPr dirty="0" sz="2000" spc="-270">
                <a:solidFill>
                  <a:srgbClr val="3B5475"/>
                </a:solidFill>
                <a:latin typeface="Arial"/>
                <a:cs typeface="Arial"/>
              </a:rPr>
              <a:t> </a:t>
            </a:r>
            <a:r>
              <a:rPr dirty="0" sz="2000" spc="-140">
                <a:solidFill>
                  <a:srgbClr val="4F5662"/>
                </a:solidFill>
                <a:latin typeface="Arial"/>
                <a:cs typeface="Arial"/>
              </a:rPr>
              <a:t>yOksek</a:t>
            </a:r>
            <a:r>
              <a:rPr dirty="0" sz="2000" spc="-6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F5662"/>
                </a:solidFill>
                <a:latin typeface="Arial"/>
                <a:cs typeface="Arial"/>
              </a:rPr>
              <a:t>tarafta</a:t>
            </a:r>
            <a:r>
              <a:rPr dirty="0" sz="2000" spc="-8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105">
                <a:solidFill>
                  <a:srgbClr val="4F5662"/>
                </a:solidFill>
                <a:latin typeface="Arial"/>
                <a:cs typeface="Arial"/>
              </a:rPr>
              <a:t>gaz</a:t>
            </a:r>
            <a:r>
              <a:rPr dirty="0" sz="2000" spc="-16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30">
                <a:solidFill>
                  <a:srgbClr val="4F5662"/>
                </a:solidFill>
                <a:latin typeface="Arial"/>
                <a:cs typeface="Arial"/>
              </a:rPr>
              <a:t>sogutucu</a:t>
            </a:r>
            <a:r>
              <a:rPr dirty="0" sz="2000" spc="-75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455">
                <a:solidFill>
                  <a:srgbClr val="4F5662"/>
                </a:solidFill>
                <a:latin typeface="Arial"/>
                <a:cs typeface="Arial"/>
              </a:rPr>
              <a:t>c;1k1�</a:t>
            </a:r>
            <a:r>
              <a:rPr dirty="0" sz="2000" spc="-70">
                <a:solidFill>
                  <a:srgbClr val="4F5662"/>
                </a:solidFill>
                <a:latin typeface="Arial"/>
                <a:cs typeface="Arial"/>
              </a:rPr>
              <a:t> noktas1d1r.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54398" y="6763806"/>
            <a:ext cx="7865745" cy="7816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970" marR="5080" indent="-1905">
              <a:lnSpc>
                <a:spcPct val="124000"/>
              </a:lnSpc>
              <a:spcBef>
                <a:spcPts val="95"/>
              </a:spcBef>
            </a:pPr>
            <a:r>
              <a:rPr dirty="0" sz="2000" spc="-65" b="1">
                <a:solidFill>
                  <a:srgbClr val="4F5662"/>
                </a:solidFill>
                <a:latin typeface="Arial"/>
                <a:cs typeface="Arial"/>
              </a:rPr>
              <a:t>Durum</a:t>
            </a:r>
            <a:r>
              <a:rPr dirty="0" sz="2000" spc="-204" b="1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4F5662"/>
                </a:solidFill>
                <a:latin typeface="Arial"/>
                <a:cs typeface="Arial"/>
              </a:rPr>
              <a:t>4</a:t>
            </a:r>
            <a:r>
              <a:rPr dirty="0" sz="2000" spc="-114" b="1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135" b="1">
                <a:solidFill>
                  <a:srgbClr val="4F5662"/>
                </a:solidFill>
                <a:latin typeface="Arial"/>
                <a:cs typeface="Arial"/>
              </a:rPr>
              <a:t>(Genle�me</a:t>
            </a:r>
            <a:r>
              <a:rPr dirty="0" sz="2000" spc="-10" b="1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1900" spc="-285" b="1">
                <a:solidFill>
                  <a:srgbClr val="4F5662"/>
                </a:solidFill>
                <a:latin typeface="Arial"/>
                <a:cs typeface="Arial"/>
              </a:rPr>
              <a:t>C1k1�1):</a:t>
            </a:r>
            <a:r>
              <a:rPr dirty="0" sz="1900" spc="-155" b="1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145">
                <a:solidFill>
                  <a:srgbClr val="4F5662"/>
                </a:solidFill>
                <a:latin typeface="Arial"/>
                <a:cs typeface="Arial"/>
              </a:rPr>
              <a:t>Genle�me</a:t>
            </a:r>
            <a:r>
              <a:rPr dirty="0" sz="2000" spc="-6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160">
                <a:solidFill>
                  <a:srgbClr val="4F5662"/>
                </a:solidFill>
                <a:latin typeface="Arial"/>
                <a:cs typeface="Arial"/>
              </a:rPr>
              <a:t>vanas1</a:t>
            </a:r>
            <a:r>
              <a:rPr dirty="0" sz="2000" spc="-29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365">
                <a:solidFill>
                  <a:srgbClr val="4F5662"/>
                </a:solidFill>
                <a:latin typeface="Arial"/>
                <a:cs typeface="Arial"/>
              </a:rPr>
              <a:t>c;1k1�1nda</a:t>
            </a:r>
            <a:r>
              <a:rPr dirty="0" sz="2000" spc="10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3B5475"/>
                </a:solidFill>
                <a:latin typeface="Arial"/>
                <a:cs typeface="Arial"/>
              </a:rPr>
              <a:t>izoentalpik</a:t>
            </a:r>
            <a:r>
              <a:rPr dirty="0" sz="2000" spc="-110">
                <a:solidFill>
                  <a:srgbClr val="3B5475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4F5662"/>
                </a:solidFill>
                <a:latin typeface="Arial"/>
                <a:cs typeface="Arial"/>
              </a:rPr>
              <a:t>(h4</a:t>
            </a:r>
            <a:r>
              <a:rPr dirty="0" sz="2000" spc="-25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730">
                <a:solidFill>
                  <a:srgbClr val="4F5662"/>
                </a:solidFill>
                <a:latin typeface="Arial"/>
                <a:cs typeface="Arial"/>
              </a:rPr>
              <a:t>=</a:t>
            </a:r>
            <a:r>
              <a:rPr dirty="0" sz="2000" spc="15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F5662"/>
                </a:solidFill>
                <a:latin typeface="Arial"/>
                <a:cs typeface="Arial"/>
              </a:rPr>
              <a:t>h3)</a:t>
            </a:r>
            <a:r>
              <a:rPr dirty="0" sz="2000" spc="-95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145">
                <a:solidFill>
                  <a:srgbClr val="4F5662"/>
                </a:solidFill>
                <a:latin typeface="Arial"/>
                <a:cs typeface="Arial"/>
              </a:rPr>
              <a:t>genle�me</a:t>
            </a:r>
            <a:r>
              <a:rPr dirty="0" sz="2000" spc="-20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120">
                <a:solidFill>
                  <a:srgbClr val="4F5662"/>
                </a:solidFill>
                <a:latin typeface="Arial"/>
                <a:cs typeface="Arial"/>
              </a:rPr>
              <a:t>gerc;ekle�erek</a:t>
            </a:r>
            <a:r>
              <a:rPr dirty="0" sz="2000" spc="-315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4F5662"/>
                </a:solidFill>
                <a:latin typeface="Arial"/>
                <a:cs typeface="Arial"/>
              </a:rPr>
              <a:t>evaporatore</a:t>
            </a:r>
            <a:r>
              <a:rPr dirty="0" sz="2000" spc="-95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4F5662"/>
                </a:solidFill>
                <a:latin typeface="Arial"/>
                <a:cs typeface="Arial"/>
              </a:rPr>
              <a:t>girilir.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2738" y="6772568"/>
            <a:ext cx="2092205" cy="456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81261" y="6898568"/>
            <a:ext cx="3712485" cy="2677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75313" y="724581"/>
            <a:ext cx="0" cy="811530"/>
          </a:xfrm>
          <a:custGeom>
            <a:avLst/>
            <a:gdLst/>
            <a:ahLst/>
            <a:cxnLst/>
            <a:rect l="l" t="t" r="r" b="b"/>
            <a:pathLst>
              <a:path w="0" h="811530">
                <a:moveTo>
                  <a:pt x="0" y="811122"/>
                </a:moveTo>
                <a:lnTo>
                  <a:pt x="0" y="0"/>
                </a:lnTo>
              </a:path>
            </a:pathLst>
          </a:custGeom>
          <a:ln w="786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67448" y="6552067"/>
            <a:ext cx="0" cy="906144"/>
          </a:xfrm>
          <a:custGeom>
            <a:avLst/>
            <a:gdLst/>
            <a:ahLst/>
            <a:cxnLst/>
            <a:rect l="l" t="t" r="r" b="b"/>
            <a:pathLst>
              <a:path w="0" h="906145">
                <a:moveTo>
                  <a:pt x="0" y="905622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405965" y="6607192"/>
            <a:ext cx="0" cy="811530"/>
          </a:xfrm>
          <a:custGeom>
            <a:avLst/>
            <a:gdLst/>
            <a:ahLst/>
            <a:cxnLst/>
            <a:rect l="l" t="t" r="r" b="b"/>
            <a:pathLst>
              <a:path w="0" h="811529">
                <a:moveTo>
                  <a:pt x="0" y="811122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35"/>
              </a:spcBef>
            </a:pPr>
            <a:r>
              <a:rPr dirty="0" sz="4150" spc="185">
                <a:solidFill>
                  <a:srgbClr val="0E1628"/>
                </a:solidFill>
              </a:rPr>
              <a:t>Temel</a:t>
            </a:r>
            <a:r>
              <a:rPr dirty="0" sz="4150" spc="-204">
                <a:solidFill>
                  <a:srgbClr val="0E1628"/>
                </a:solidFill>
              </a:rPr>
              <a:t> </a:t>
            </a:r>
            <a:r>
              <a:rPr dirty="0" sz="4150" spc="-10">
                <a:solidFill>
                  <a:srgbClr val="0E1628"/>
                </a:solidFill>
              </a:rPr>
              <a:t>FormUller</a:t>
            </a:r>
            <a:endParaRPr sz="4150"/>
          </a:p>
        </p:txBody>
      </p:sp>
      <p:sp>
        <p:nvSpPr>
          <p:cNvPr id="8" name="object 8"/>
          <p:cNvSpPr txBox="1"/>
          <p:nvPr/>
        </p:nvSpPr>
        <p:spPr>
          <a:xfrm>
            <a:off x="920471" y="4846248"/>
            <a:ext cx="8477885" cy="1430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50" spc="215" b="1">
                <a:solidFill>
                  <a:srgbClr val="0E1628"/>
                </a:solidFill>
                <a:latin typeface="Arial"/>
                <a:cs typeface="Arial"/>
              </a:rPr>
              <a:t>Performans</a:t>
            </a:r>
            <a:r>
              <a:rPr dirty="0" sz="2850" spc="-10" b="1">
                <a:solidFill>
                  <a:srgbClr val="0E1628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E1628"/>
                </a:solidFill>
                <a:latin typeface="Arial"/>
                <a:cs typeface="Arial"/>
              </a:rPr>
              <a:t>Katsay1s1</a:t>
            </a:r>
            <a:r>
              <a:rPr dirty="0" sz="2850" spc="30" b="1">
                <a:solidFill>
                  <a:srgbClr val="0E1628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E1628"/>
                </a:solidFill>
                <a:latin typeface="Arial"/>
                <a:cs typeface="Arial"/>
              </a:rPr>
              <a:t>(</a:t>
            </a:r>
            <a:r>
              <a:rPr dirty="0" sz="2850" spc="-375" b="1">
                <a:solidFill>
                  <a:srgbClr val="0E1628"/>
                </a:solidFill>
                <a:latin typeface="Arial"/>
                <a:cs typeface="Arial"/>
              </a:rPr>
              <a:t> </a:t>
            </a:r>
            <a:r>
              <a:rPr dirty="0" sz="2850" spc="114" b="1">
                <a:solidFill>
                  <a:srgbClr val="0E1628"/>
                </a:solidFill>
                <a:latin typeface="Arial"/>
                <a:cs typeface="Arial"/>
              </a:rPr>
              <a:t>COP)</a:t>
            </a:r>
            <a:endParaRPr sz="2850">
              <a:latin typeface="Arial"/>
              <a:cs typeface="Arial"/>
            </a:endParaRPr>
          </a:p>
          <a:p>
            <a:pPr marL="22860" marR="5080" indent="-4445">
              <a:lnSpc>
                <a:spcPct val="124500"/>
              </a:lnSpc>
              <a:spcBef>
                <a:spcPts val="1805"/>
              </a:spcBef>
            </a:pPr>
            <a:r>
              <a:rPr dirty="0" sz="1950" spc="-95">
                <a:solidFill>
                  <a:srgbClr val="525964"/>
                </a:solidFill>
                <a:latin typeface="Arial"/>
                <a:cs typeface="Arial"/>
              </a:rPr>
              <a:t>COP,</a:t>
            </a:r>
            <a:r>
              <a:rPr dirty="0" sz="1950" spc="-235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525964"/>
                </a:solidFill>
                <a:latin typeface="Arial"/>
                <a:cs typeface="Arial"/>
              </a:rPr>
              <a:t>evaporatorden</a:t>
            </a:r>
            <a:r>
              <a:rPr dirty="0" sz="1950" spc="-50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1950" spc="-120">
                <a:solidFill>
                  <a:srgbClr val="525964"/>
                </a:solidFill>
                <a:latin typeface="Arial"/>
                <a:cs typeface="Arial"/>
              </a:rPr>
              <a:t>&lt;;ekilen</a:t>
            </a:r>
            <a:r>
              <a:rPr dirty="0" sz="1950" spc="-65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525964"/>
                </a:solidFill>
                <a:latin typeface="Arial"/>
                <a:cs typeface="Arial"/>
              </a:rPr>
              <a:t>faydall</a:t>
            </a:r>
            <a:r>
              <a:rPr dirty="0" sz="1950" spc="-180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1950" spc="-325">
                <a:solidFill>
                  <a:srgbClr val="3B5472"/>
                </a:solidFill>
                <a:latin typeface="Arial"/>
                <a:cs typeface="Arial"/>
              </a:rPr>
              <a:t>1s1n1n</a:t>
            </a:r>
            <a:r>
              <a:rPr dirty="0" sz="1950">
                <a:solidFill>
                  <a:srgbClr val="3B5472"/>
                </a:solidFill>
                <a:latin typeface="Arial"/>
                <a:cs typeface="Arial"/>
              </a:rPr>
              <a:t> </a:t>
            </a:r>
            <a:r>
              <a:rPr dirty="0" sz="1950" spc="-20">
                <a:solidFill>
                  <a:srgbClr val="525964"/>
                </a:solidFill>
                <a:latin typeface="Arial"/>
                <a:cs typeface="Arial"/>
              </a:rPr>
              <a:t>kompresorde</a:t>
            </a:r>
            <a:r>
              <a:rPr dirty="0" sz="1950" spc="-85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1950" spc="-20">
                <a:solidFill>
                  <a:srgbClr val="525964"/>
                </a:solidFill>
                <a:latin typeface="Arial"/>
                <a:cs typeface="Arial"/>
              </a:rPr>
              <a:t>tOketilen</a:t>
            </a:r>
            <a:r>
              <a:rPr dirty="0" sz="1950" spc="-85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1950" spc="-40">
                <a:solidFill>
                  <a:srgbClr val="525964"/>
                </a:solidFill>
                <a:latin typeface="Arial"/>
                <a:cs typeface="Arial"/>
              </a:rPr>
              <a:t>mekanik</a:t>
            </a:r>
            <a:r>
              <a:rPr dirty="0" sz="1950" spc="-80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1950" spc="-40">
                <a:solidFill>
                  <a:srgbClr val="525964"/>
                </a:solidFill>
                <a:latin typeface="Arial"/>
                <a:cs typeface="Arial"/>
              </a:rPr>
              <a:t>gOce </a:t>
            </a:r>
            <a:r>
              <a:rPr dirty="0" sz="1950" spc="-55">
                <a:solidFill>
                  <a:srgbClr val="525964"/>
                </a:solidFill>
                <a:latin typeface="Arial"/>
                <a:cs typeface="Arial"/>
              </a:rPr>
              <a:t>oran1d1r.</a:t>
            </a:r>
            <a:endParaRPr sz="1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35780" y="4854123"/>
            <a:ext cx="8630285" cy="1470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3200" spc="-1445" b="1">
                <a:solidFill>
                  <a:srgbClr val="0E1628"/>
                </a:solidFill>
                <a:latin typeface="Arial"/>
                <a:cs typeface="Arial"/>
              </a:rPr>
              <a:t>o</a:t>
            </a:r>
            <a:r>
              <a:rPr dirty="0" baseline="45584" sz="2925" spc="-60">
                <a:solidFill>
                  <a:srgbClr val="0E1628"/>
                </a:solidFill>
                <a:latin typeface="Arial"/>
                <a:cs typeface="Arial"/>
              </a:rPr>
              <a:t>•</a:t>
            </a:r>
            <a:r>
              <a:rPr dirty="0" baseline="45584" sz="2925" spc="-44">
                <a:solidFill>
                  <a:srgbClr val="0E1628"/>
                </a:solidFill>
                <a:latin typeface="Arial"/>
                <a:cs typeface="Arial"/>
              </a:rPr>
              <a:t>•</a:t>
            </a:r>
            <a:r>
              <a:rPr dirty="0" baseline="45584" sz="2925" spc="-502">
                <a:solidFill>
                  <a:srgbClr val="0E1628"/>
                </a:solidFill>
                <a:latin typeface="Arial"/>
                <a:cs typeface="Arial"/>
              </a:rPr>
              <a:t> </a:t>
            </a:r>
            <a:r>
              <a:rPr dirty="0" sz="3200" spc="20" b="1">
                <a:solidFill>
                  <a:srgbClr val="0E1628"/>
                </a:solidFill>
                <a:latin typeface="Arial"/>
                <a:cs typeface="Arial"/>
              </a:rPr>
              <a:t>zg</a:t>
            </a:r>
            <a:r>
              <a:rPr dirty="0" sz="3200" spc="-1445" b="1">
                <a:solidFill>
                  <a:srgbClr val="0E1628"/>
                </a:solidFill>
                <a:latin typeface="Arial"/>
                <a:cs typeface="Arial"/>
              </a:rPr>
              <a:t>u</a:t>
            </a:r>
            <a:r>
              <a:rPr dirty="0" baseline="45584" sz="2925" spc="22">
                <a:solidFill>
                  <a:srgbClr val="0E1628"/>
                </a:solidFill>
                <a:latin typeface="Arial"/>
                <a:cs typeface="Arial"/>
              </a:rPr>
              <a:t>•</a:t>
            </a:r>
            <a:r>
              <a:rPr dirty="0" baseline="45584" sz="2925" spc="37">
                <a:solidFill>
                  <a:srgbClr val="0E1628"/>
                </a:solidFill>
                <a:latin typeface="Arial"/>
                <a:cs typeface="Arial"/>
              </a:rPr>
              <a:t>•</a:t>
            </a:r>
            <a:r>
              <a:rPr dirty="0" baseline="45584" sz="2925" spc="-502">
                <a:solidFill>
                  <a:srgbClr val="0E162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E1628"/>
                </a:solidFill>
                <a:latin typeface="Arial"/>
                <a:cs typeface="Arial"/>
              </a:rPr>
              <a:t>l</a:t>
            </a:r>
            <a:r>
              <a:rPr dirty="0" sz="3200" spc="-265" b="1">
                <a:solidFill>
                  <a:srgbClr val="0E1628"/>
                </a:solidFill>
                <a:latin typeface="Arial"/>
                <a:cs typeface="Arial"/>
              </a:rPr>
              <a:t> </a:t>
            </a:r>
            <a:r>
              <a:rPr dirty="0" sz="2850" spc="-65" b="1">
                <a:solidFill>
                  <a:srgbClr val="0E1628"/>
                </a:solidFill>
                <a:latin typeface="Arial"/>
                <a:cs typeface="Arial"/>
              </a:rPr>
              <a:t>Ekser</a:t>
            </a:r>
            <a:r>
              <a:rPr dirty="0" sz="2850" spc="-990" b="1">
                <a:solidFill>
                  <a:srgbClr val="0E1628"/>
                </a:solidFill>
                <a:latin typeface="Arial"/>
                <a:cs typeface="Arial"/>
              </a:rPr>
              <a:t>J</a:t>
            </a:r>
            <a:r>
              <a:rPr dirty="0" baseline="40404" sz="3300" spc="-97">
                <a:solidFill>
                  <a:srgbClr val="0E1628"/>
                </a:solidFill>
                <a:latin typeface="Arial"/>
                <a:cs typeface="Arial"/>
              </a:rPr>
              <a:t>•</a:t>
            </a:r>
            <a:r>
              <a:rPr dirty="0" baseline="40404" sz="3300" spc="-1064">
                <a:solidFill>
                  <a:srgbClr val="0E1628"/>
                </a:solidFill>
                <a:latin typeface="Arial"/>
                <a:cs typeface="Arial"/>
              </a:rPr>
              <a:t>•</a:t>
            </a:r>
            <a:r>
              <a:rPr dirty="0" sz="2850" spc="-55" b="1">
                <a:solidFill>
                  <a:srgbClr val="0E1628"/>
                </a:solidFill>
                <a:latin typeface="Arial"/>
                <a:cs typeface="Arial"/>
              </a:rPr>
              <a:t>I</a:t>
            </a:r>
            <a:r>
              <a:rPr dirty="0" sz="2850" spc="45" b="1">
                <a:solidFill>
                  <a:srgbClr val="0E1628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0E1628"/>
                </a:solidFill>
                <a:latin typeface="Arial"/>
                <a:cs typeface="Arial"/>
              </a:rPr>
              <a:t>Tan1m1</a:t>
            </a:r>
            <a:endParaRPr sz="2850">
              <a:latin typeface="Arial"/>
              <a:cs typeface="Arial"/>
            </a:endParaRPr>
          </a:p>
          <a:p>
            <a:pPr marL="45085" marR="30480" indent="-2540">
              <a:lnSpc>
                <a:spcPct val="127200"/>
              </a:lnSpc>
              <a:spcBef>
                <a:spcPts val="1545"/>
              </a:spcBef>
            </a:pPr>
            <a:r>
              <a:rPr dirty="0" sz="1950" spc="-40">
                <a:solidFill>
                  <a:srgbClr val="525964"/>
                </a:solidFill>
                <a:latin typeface="Arial"/>
                <a:cs typeface="Arial"/>
              </a:rPr>
              <a:t>Sistemin</a:t>
            </a:r>
            <a:r>
              <a:rPr dirty="0" sz="1950" spc="-125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525964"/>
                </a:solidFill>
                <a:latin typeface="Arial"/>
                <a:cs typeface="Arial"/>
              </a:rPr>
              <a:t>tersinmezlik</a:t>
            </a:r>
            <a:r>
              <a:rPr dirty="0" sz="1950" spc="55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1950" spc="-165">
                <a:solidFill>
                  <a:srgbClr val="525964"/>
                </a:solidFill>
                <a:latin typeface="Arial"/>
                <a:cs typeface="Arial"/>
              </a:rPr>
              <a:t>kay1plar1n1n</a:t>
            </a:r>
            <a:r>
              <a:rPr dirty="0" sz="1950" spc="-30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1950" spc="-95">
                <a:solidFill>
                  <a:srgbClr val="525964"/>
                </a:solidFill>
                <a:latin typeface="Arial"/>
                <a:cs typeface="Arial"/>
              </a:rPr>
              <a:t>hesaplanmas1</a:t>
            </a:r>
            <a:r>
              <a:rPr dirty="0" sz="1950" spc="-165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1950" spc="-145">
                <a:solidFill>
                  <a:srgbClr val="525964"/>
                </a:solidFill>
                <a:latin typeface="Arial"/>
                <a:cs typeface="Arial"/>
              </a:rPr>
              <a:t>amac1yla</a:t>
            </a:r>
            <a:r>
              <a:rPr dirty="0" sz="1950" spc="-55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525964"/>
                </a:solidFill>
                <a:latin typeface="Arial"/>
                <a:cs typeface="Arial"/>
              </a:rPr>
              <a:t>her</a:t>
            </a:r>
            <a:r>
              <a:rPr dirty="0" sz="1950" spc="-110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525964"/>
                </a:solidFill>
                <a:latin typeface="Arial"/>
                <a:cs typeface="Arial"/>
              </a:rPr>
              <a:t>durum</a:t>
            </a:r>
            <a:r>
              <a:rPr dirty="0" sz="1950" spc="-114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1950" spc="-50">
                <a:solidFill>
                  <a:srgbClr val="525964"/>
                </a:solidFill>
                <a:latin typeface="Arial"/>
                <a:cs typeface="Arial"/>
              </a:rPr>
              <a:t>noktas1nda </a:t>
            </a:r>
            <a:r>
              <a:rPr dirty="0" sz="1950" spc="-30">
                <a:solidFill>
                  <a:srgbClr val="525964"/>
                </a:solidFill>
                <a:latin typeface="Arial"/>
                <a:cs typeface="Arial"/>
              </a:rPr>
              <a:t>ekserji</a:t>
            </a:r>
            <a:r>
              <a:rPr dirty="0" sz="1950" spc="-95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1950" spc="-35">
                <a:solidFill>
                  <a:srgbClr val="525964"/>
                </a:solidFill>
                <a:latin typeface="Arial"/>
                <a:cs typeface="Arial"/>
              </a:rPr>
              <a:t>analizi</a:t>
            </a:r>
            <a:r>
              <a:rPr dirty="0" sz="1950" spc="-110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525964"/>
                </a:solidFill>
                <a:latin typeface="Arial"/>
                <a:cs typeface="Arial"/>
              </a:rPr>
              <a:t>uygulan1r</a:t>
            </a:r>
            <a:r>
              <a:rPr dirty="0" sz="1950" spc="-10">
                <a:solidFill>
                  <a:srgbClr val="42424B"/>
                </a:solidFill>
                <a:latin typeface="Arial"/>
                <a:cs typeface="Arial"/>
              </a:rPr>
              <a:t>.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4131" y="5055823"/>
            <a:ext cx="409002" cy="535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56289" y="5166072"/>
            <a:ext cx="723619" cy="4252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42833" y="4992823"/>
            <a:ext cx="4184410" cy="8032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00286" y="4977073"/>
            <a:ext cx="4215872" cy="6299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679082" y="5166072"/>
            <a:ext cx="723619" cy="4252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701588" y="5024323"/>
            <a:ext cx="409002" cy="5669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330822" y="5055823"/>
            <a:ext cx="943852" cy="535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353327" y="5024323"/>
            <a:ext cx="2249514" cy="77174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9422786" y="4417947"/>
            <a:ext cx="1274445" cy="0"/>
          </a:xfrm>
          <a:custGeom>
            <a:avLst/>
            <a:gdLst/>
            <a:ahLst/>
            <a:cxnLst/>
            <a:rect l="l" t="t" r="r" b="b"/>
            <a:pathLst>
              <a:path w="1274445" h="0">
                <a:moveTo>
                  <a:pt x="0" y="0"/>
                </a:moveTo>
                <a:lnTo>
                  <a:pt x="1274199" y="0"/>
                </a:lnTo>
              </a:path>
            </a:pathLst>
          </a:custGeom>
          <a:ln w="629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2985477" y="4672999"/>
            <a:ext cx="243840" cy="7061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90" b="0">
                <a:solidFill>
                  <a:srgbClr val="0E1626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09199" y="5011622"/>
            <a:ext cx="187960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-165">
                <a:solidFill>
                  <a:srgbClr val="0E1626"/>
                </a:solidFill>
                <a:latin typeface="Times New Roman"/>
                <a:cs typeface="Times New Roman"/>
              </a:rPr>
              <a:t>I</a:t>
            </a:r>
            <a:endParaRPr sz="4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430778" y="4672999"/>
            <a:ext cx="243840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90">
                <a:solidFill>
                  <a:srgbClr val="0E1626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46741" y="5011622"/>
            <a:ext cx="10008870" cy="193167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r" marR="1416050">
              <a:lnSpc>
                <a:spcPct val="100000"/>
              </a:lnSpc>
              <a:spcBef>
                <a:spcPts val="115"/>
              </a:spcBef>
            </a:pPr>
            <a:r>
              <a:rPr dirty="0" sz="4450" spc="-50">
                <a:solidFill>
                  <a:srgbClr val="0E1626"/>
                </a:solidFill>
                <a:latin typeface="Times New Roman"/>
                <a:cs typeface="Times New Roman"/>
              </a:rPr>
              <a:t>I</a:t>
            </a:r>
            <a:endParaRPr sz="4450">
              <a:latin typeface="Times New Roman"/>
              <a:cs typeface="Times New Roman"/>
            </a:endParaRPr>
          </a:p>
          <a:p>
            <a:pPr marL="4538345" marR="5080" indent="-4526280">
              <a:lnSpc>
                <a:spcPct val="129800"/>
              </a:lnSpc>
              <a:spcBef>
                <a:spcPts val="2950"/>
              </a:spcBef>
            </a:pPr>
            <a:r>
              <a:rPr dirty="0" sz="2150">
                <a:solidFill>
                  <a:srgbClr val="495462"/>
                </a:solidFill>
                <a:latin typeface="Arial"/>
                <a:cs typeface="Arial"/>
              </a:rPr>
              <a:t>CoolProp</a:t>
            </a:r>
            <a:r>
              <a:rPr dirty="0" sz="2150" spc="-180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150" spc="-85">
                <a:solidFill>
                  <a:srgbClr val="495462"/>
                </a:solidFill>
                <a:latin typeface="Arial"/>
                <a:cs typeface="Arial"/>
              </a:rPr>
              <a:t>kOtOphanesi</a:t>
            </a:r>
            <a:r>
              <a:rPr dirty="0" sz="2150" spc="215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95462"/>
                </a:solidFill>
                <a:latin typeface="Arial"/>
                <a:cs typeface="Arial"/>
              </a:rPr>
              <a:t>entegrasyonuyla</a:t>
            </a:r>
            <a:r>
              <a:rPr dirty="0" sz="2150" spc="-270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95462"/>
                </a:solidFill>
                <a:latin typeface="Arial"/>
                <a:cs typeface="Arial"/>
              </a:rPr>
              <a:t>elde</a:t>
            </a:r>
            <a:r>
              <a:rPr dirty="0" sz="2150" spc="-235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95462"/>
                </a:solidFill>
                <a:latin typeface="Arial"/>
                <a:cs typeface="Arial"/>
              </a:rPr>
              <a:t>edilen</a:t>
            </a:r>
            <a:r>
              <a:rPr dirty="0" sz="2150" spc="-114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150" spc="-145">
                <a:solidFill>
                  <a:srgbClr val="495462"/>
                </a:solidFill>
                <a:latin typeface="Arial"/>
                <a:cs typeface="Arial"/>
              </a:rPr>
              <a:t>say1sal</a:t>
            </a:r>
            <a:r>
              <a:rPr dirty="0" sz="2150" spc="110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150" spc="-95">
                <a:solidFill>
                  <a:srgbClr val="495462"/>
                </a:solidFill>
                <a:latin typeface="Arial"/>
                <a:cs typeface="Arial"/>
              </a:rPr>
              <a:t>sonu&lt;;lar</a:t>
            </a:r>
            <a:r>
              <a:rPr dirty="0" sz="2150" spc="25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95462"/>
                </a:solidFill>
                <a:latin typeface="Arial"/>
                <a:cs typeface="Arial"/>
              </a:rPr>
              <a:t>ve</a:t>
            </a:r>
            <a:r>
              <a:rPr dirty="0" sz="2150" spc="-300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495462"/>
                </a:solidFill>
                <a:latin typeface="Arial"/>
                <a:cs typeface="Arial"/>
              </a:rPr>
              <a:t>performans </a:t>
            </a:r>
            <a:r>
              <a:rPr dirty="0" sz="2150" spc="45">
                <a:solidFill>
                  <a:srgbClr val="495462"/>
                </a:solidFill>
                <a:latin typeface="Arial"/>
                <a:cs typeface="Arial"/>
              </a:rPr>
              <a:t>egrileri.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8469" y="945081"/>
            <a:ext cx="1132622" cy="377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6939" y="1023832"/>
            <a:ext cx="629234" cy="299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9213" y="897836"/>
            <a:ext cx="1525894" cy="566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08031" y="897836"/>
            <a:ext cx="94385" cy="4252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59724" y="897836"/>
            <a:ext cx="1038237" cy="4252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60886" y="897836"/>
            <a:ext cx="644965" cy="4252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94621" y="834838"/>
            <a:ext cx="78654" cy="4882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36200" y="897836"/>
            <a:ext cx="534849" cy="56699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833972" y="897836"/>
            <a:ext cx="865198" cy="4409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43852" y="4551824"/>
            <a:ext cx="330348" cy="1889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43852" y="5496822"/>
            <a:ext cx="283155" cy="2834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350910" y="3307579"/>
            <a:ext cx="8762097" cy="5953483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975313" y="724581"/>
            <a:ext cx="0" cy="819150"/>
          </a:xfrm>
          <a:custGeom>
            <a:avLst/>
            <a:gdLst/>
            <a:ahLst/>
            <a:cxnLst/>
            <a:rect l="l" t="t" r="r" b="b"/>
            <a:pathLst>
              <a:path w="0" h="819150">
                <a:moveTo>
                  <a:pt x="0" y="818997"/>
                </a:moveTo>
                <a:lnTo>
                  <a:pt x="0" y="0"/>
                </a:lnTo>
              </a:path>
            </a:pathLst>
          </a:custGeom>
          <a:ln w="786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9175920" y="3307575"/>
            <a:ext cx="0" cy="5922010"/>
          </a:xfrm>
          <a:custGeom>
            <a:avLst/>
            <a:gdLst/>
            <a:ahLst/>
            <a:cxnLst/>
            <a:rect l="l" t="t" r="r" b="b"/>
            <a:pathLst>
              <a:path w="0" h="5922009">
                <a:moveTo>
                  <a:pt x="0" y="5921985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476754" y="3276075"/>
            <a:ext cx="8636635" cy="0"/>
          </a:xfrm>
          <a:custGeom>
            <a:avLst/>
            <a:gdLst/>
            <a:ahLst/>
            <a:cxnLst/>
            <a:rect l="l" t="t" r="r" b="b"/>
            <a:pathLst>
              <a:path w="8636635" h="0">
                <a:moveTo>
                  <a:pt x="0" y="0"/>
                </a:moveTo>
                <a:lnTo>
                  <a:pt x="8636243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96559" y="4417062"/>
            <a:ext cx="8634095" cy="341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95960" marR="5080" indent="-3175">
              <a:lnSpc>
                <a:spcPct val="124000"/>
              </a:lnSpc>
              <a:spcBef>
                <a:spcPts val="95"/>
              </a:spcBef>
            </a:pPr>
            <a:r>
              <a:rPr dirty="0" sz="2000" spc="-75">
                <a:solidFill>
                  <a:srgbClr val="525966"/>
                </a:solidFill>
                <a:latin typeface="Arial"/>
                <a:cs typeface="Arial"/>
              </a:rPr>
              <a:t>Evaporasyon</a:t>
            </a:r>
            <a:r>
              <a:rPr dirty="0" sz="2000" spc="-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250">
                <a:solidFill>
                  <a:srgbClr val="525966"/>
                </a:solidFill>
                <a:latin typeface="Arial"/>
                <a:cs typeface="Arial"/>
              </a:rPr>
              <a:t>s1cakl1g1</a:t>
            </a:r>
            <a:r>
              <a:rPr dirty="0" sz="2000" spc="-24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155">
                <a:solidFill>
                  <a:srgbClr val="525966"/>
                </a:solidFill>
                <a:latin typeface="Arial"/>
                <a:cs typeface="Arial"/>
              </a:rPr>
              <a:t>artt1kc;a</a:t>
            </a:r>
            <a:r>
              <a:rPr dirty="0" sz="2000" spc="-1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55">
                <a:solidFill>
                  <a:srgbClr val="525966"/>
                </a:solidFill>
                <a:latin typeface="Arial"/>
                <a:cs typeface="Arial"/>
              </a:rPr>
              <a:t>tom</a:t>
            </a:r>
            <a:r>
              <a:rPr dirty="0" sz="2000" spc="-19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165">
                <a:solidFill>
                  <a:srgbClr val="525966"/>
                </a:solidFill>
                <a:latin typeface="Arial"/>
                <a:cs typeface="Arial"/>
              </a:rPr>
              <a:t>ak1�kanlarda</a:t>
            </a:r>
            <a:r>
              <a:rPr dirty="0" sz="2000" spc="14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525966"/>
                </a:solidFill>
                <a:latin typeface="Arial"/>
                <a:cs typeface="Arial"/>
              </a:rPr>
              <a:t>COP</a:t>
            </a:r>
            <a:r>
              <a:rPr dirty="0" sz="2000" spc="-14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30">
                <a:solidFill>
                  <a:srgbClr val="525966"/>
                </a:solidFill>
                <a:latin typeface="Arial"/>
                <a:cs typeface="Arial"/>
              </a:rPr>
              <a:t>degerinin</a:t>
            </a:r>
            <a:r>
              <a:rPr dirty="0" sz="2000" spc="-114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525966"/>
                </a:solidFill>
                <a:latin typeface="Arial"/>
                <a:cs typeface="Arial"/>
              </a:rPr>
              <a:t>yOkseldigi </a:t>
            </a:r>
            <a:r>
              <a:rPr dirty="0" sz="2000" spc="-315">
                <a:solidFill>
                  <a:srgbClr val="525966"/>
                </a:solidFill>
                <a:latin typeface="Arial"/>
                <a:cs typeface="Arial"/>
              </a:rPr>
              <a:t>ac;1kc;a</a:t>
            </a:r>
            <a:r>
              <a:rPr dirty="0" sz="2000" spc="-3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25966"/>
                </a:solidFill>
                <a:latin typeface="Arial"/>
                <a:cs typeface="Arial"/>
              </a:rPr>
              <a:t>g6r01mektedir</a:t>
            </a:r>
            <a:r>
              <a:rPr dirty="0" sz="2000" spc="-10">
                <a:solidFill>
                  <a:srgbClr val="383D3B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696595" marR="1007744" indent="-1905">
              <a:lnSpc>
                <a:spcPct val="124000"/>
              </a:lnSpc>
              <a:spcBef>
                <a:spcPts val="1800"/>
              </a:spcBef>
            </a:pPr>
            <a:r>
              <a:rPr dirty="0" sz="2000" spc="-95" b="1">
                <a:solidFill>
                  <a:srgbClr val="1F2634"/>
                </a:solidFill>
                <a:latin typeface="Arial"/>
                <a:cs typeface="Arial"/>
              </a:rPr>
              <a:t>R600a </a:t>
            </a:r>
            <a:r>
              <a:rPr dirty="0" sz="2000" spc="-50" b="1">
                <a:solidFill>
                  <a:srgbClr val="1F2634"/>
                </a:solidFill>
                <a:latin typeface="Arial"/>
                <a:cs typeface="Arial"/>
              </a:rPr>
              <a:t>(izobutan)</a:t>
            </a:r>
            <a:r>
              <a:rPr dirty="0" sz="2000" spc="-50" b="1">
                <a:solidFill>
                  <a:srgbClr val="525966"/>
                </a:solidFill>
                <a:latin typeface="Arial"/>
                <a:cs typeface="Arial"/>
              </a:rPr>
              <a:t>,</a:t>
            </a:r>
            <a:r>
              <a:rPr dirty="0" sz="2000" spc="-50">
                <a:solidFill>
                  <a:srgbClr val="525966"/>
                </a:solidFill>
                <a:latin typeface="Arial"/>
                <a:cs typeface="Arial"/>
              </a:rPr>
              <a:t>hem</a:t>
            </a:r>
            <a:r>
              <a:rPr dirty="0" sz="2000" spc="-17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525966"/>
                </a:solidFill>
                <a:latin typeface="Arial"/>
                <a:cs typeface="Arial"/>
              </a:rPr>
              <a:t>COP</a:t>
            </a:r>
            <a:r>
              <a:rPr dirty="0" sz="2000" spc="-12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525966"/>
                </a:solidFill>
                <a:latin typeface="Arial"/>
                <a:cs typeface="Arial"/>
              </a:rPr>
              <a:t>hem</a:t>
            </a:r>
            <a:r>
              <a:rPr dirty="0" sz="2000" spc="-21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25966"/>
                </a:solidFill>
                <a:latin typeface="Arial"/>
                <a:cs typeface="Arial"/>
              </a:rPr>
              <a:t>de</a:t>
            </a:r>
            <a:r>
              <a:rPr dirty="0" sz="2000" spc="-30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525966"/>
                </a:solidFill>
                <a:latin typeface="Arial"/>
                <a:cs typeface="Arial"/>
              </a:rPr>
              <a:t>Ekserji</a:t>
            </a:r>
            <a:r>
              <a:rPr dirty="0" sz="2000" spc="-8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525966"/>
                </a:solidFill>
                <a:latin typeface="Arial"/>
                <a:cs typeface="Arial"/>
              </a:rPr>
              <a:t>Veriminde</a:t>
            </a:r>
            <a:r>
              <a:rPr dirty="0" sz="2000" spc="-14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525966"/>
                </a:solidFill>
                <a:latin typeface="Arial"/>
                <a:cs typeface="Arial"/>
              </a:rPr>
              <a:t>en</a:t>
            </a:r>
            <a:r>
              <a:rPr dirty="0" sz="2000" spc="-21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525966"/>
                </a:solidFill>
                <a:latin typeface="Arial"/>
                <a:cs typeface="Arial"/>
              </a:rPr>
              <a:t>yOksek </a:t>
            </a:r>
            <a:r>
              <a:rPr dirty="0" sz="2000" spc="-10">
                <a:solidFill>
                  <a:srgbClr val="525966"/>
                </a:solidFill>
                <a:latin typeface="Arial"/>
                <a:cs typeface="Arial"/>
              </a:rPr>
              <a:t>performans</a:t>
            </a:r>
            <a:r>
              <a:rPr dirty="0" sz="2000" spc="-10">
                <a:solidFill>
                  <a:srgbClr val="385691"/>
                </a:solidFill>
                <a:latin typeface="Arial"/>
                <a:cs typeface="Arial"/>
              </a:rPr>
              <a:t>1</a:t>
            </a:r>
            <a:r>
              <a:rPr dirty="0" sz="2000" spc="-10">
                <a:solidFill>
                  <a:srgbClr val="525966"/>
                </a:solidFill>
                <a:latin typeface="Arial"/>
                <a:cs typeface="Arial"/>
              </a:rPr>
              <a:t>sergilemektedir.</a:t>
            </a:r>
            <a:endParaRPr sz="2000">
              <a:latin typeface="Arial"/>
              <a:cs typeface="Arial"/>
            </a:endParaRPr>
          </a:p>
          <a:p>
            <a:pPr marL="696595" marR="397510" indent="-684530">
              <a:lnSpc>
                <a:spcPct val="110900"/>
              </a:lnSpc>
              <a:spcBef>
                <a:spcPts val="1160"/>
              </a:spcBef>
              <a:tabLst>
                <a:tab pos="694690" algn="l"/>
              </a:tabLst>
            </a:pPr>
            <a:r>
              <a:rPr dirty="0" sz="2950" spc="60" b="1">
                <a:solidFill>
                  <a:srgbClr val="0FA3E6"/>
                </a:solidFill>
                <a:latin typeface="Arial"/>
                <a:cs typeface="Arial"/>
              </a:rPr>
              <a:t>0</a:t>
            </a:r>
            <a:r>
              <a:rPr dirty="0" sz="2950" b="1">
                <a:solidFill>
                  <a:srgbClr val="0FA3E6"/>
                </a:solidFill>
                <a:latin typeface="Arial"/>
                <a:cs typeface="Arial"/>
              </a:rPr>
              <a:t>	</a:t>
            </a:r>
            <a:r>
              <a:rPr dirty="0" sz="2000" spc="-60" b="1">
                <a:solidFill>
                  <a:srgbClr val="1F2634"/>
                </a:solidFill>
                <a:latin typeface="Arial"/>
                <a:cs typeface="Arial"/>
              </a:rPr>
              <a:t>R744</a:t>
            </a:r>
            <a:r>
              <a:rPr dirty="0" sz="2000" spc="-200" b="1">
                <a:solidFill>
                  <a:srgbClr val="1F2634"/>
                </a:solidFill>
                <a:latin typeface="Arial"/>
                <a:cs typeface="Arial"/>
              </a:rPr>
              <a:t> </a:t>
            </a:r>
            <a:r>
              <a:rPr dirty="0" sz="2000" spc="-30" b="1">
                <a:solidFill>
                  <a:srgbClr val="1F2634"/>
                </a:solidFill>
                <a:latin typeface="Arial"/>
                <a:cs typeface="Arial"/>
              </a:rPr>
              <a:t>(Karbondioksit)</a:t>
            </a:r>
            <a:r>
              <a:rPr dirty="0" sz="2000" spc="-30" b="1">
                <a:solidFill>
                  <a:srgbClr val="707987"/>
                </a:solidFill>
                <a:latin typeface="Arial"/>
                <a:cs typeface="Arial"/>
              </a:rPr>
              <a:t>,</a:t>
            </a:r>
            <a:r>
              <a:rPr dirty="0" sz="2000" spc="-30">
                <a:solidFill>
                  <a:srgbClr val="525966"/>
                </a:solidFill>
                <a:latin typeface="Arial"/>
                <a:cs typeface="Arial"/>
              </a:rPr>
              <a:t>transkritik</a:t>
            </a:r>
            <a:r>
              <a:rPr dirty="0" sz="2000" spc="-6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310">
                <a:solidFill>
                  <a:srgbClr val="525966"/>
                </a:solidFill>
                <a:latin typeface="Arial"/>
                <a:cs typeface="Arial"/>
              </a:rPr>
              <a:t>c;al1�ma</a:t>
            </a:r>
            <a:r>
              <a:rPr dirty="0" sz="2000" spc="2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25966"/>
                </a:solidFill>
                <a:latin typeface="Arial"/>
                <a:cs typeface="Arial"/>
              </a:rPr>
              <a:t>rejimi</a:t>
            </a:r>
            <a:r>
              <a:rPr dirty="0" sz="2000" spc="-16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525966"/>
                </a:solidFill>
                <a:latin typeface="Arial"/>
                <a:cs typeface="Arial"/>
              </a:rPr>
              <a:t>ve</a:t>
            </a:r>
            <a:r>
              <a:rPr dirty="0" sz="2000" spc="-28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140">
                <a:solidFill>
                  <a:srgbClr val="525966"/>
                </a:solidFill>
                <a:latin typeface="Arial"/>
                <a:cs typeface="Arial"/>
              </a:rPr>
              <a:t>yOksek</a:t>
            </a:r>
            <a:r>
              <a:rPr dirty="0" sz="2000" spc="-6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229">
                <a:solidFill>
                  <a:srgbClr val="525966"/>
                </a:solidFill>
                <a:latin typeface="Arial"/>
                <a:cs typeface="Arial"/>
              </a:rPr>
              <a:t>bas1nc;</a:t>
            </a:r>
            <a:r>
              <a:rPr dirty="0" sz="2000" spc="-20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525966"/>
                </a:solidFill>
                <a:latin typeface="Arial"/>
                <a:cs typeface="Arial"/>
              </a:rPr>
              <a:t>fark</a:t>
            </a:r>
            <a:r>
              <a:rPr dirty="0" sz="2000" spc="-60">
                <a:solidFill>
                  <a:srgbClr val="525966"/>
                </a:solidFill>
                <a:latin typeface="Arial"/>
                <a:cs typeface="Arial"/>
              </a:rPr>
              <a:t>1</a:t>
            </a:r>
            <a:r>
              <a:rPr dirty="0" sz="2000" spc="-6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525966"/>
                </a:solidFill>
                <a:latin typeface="Arial"/>
                <a:cs typeface="Arial"/>
              </a:rPr>
              <a:t>nedeniyle</a:t>
            </a:r>
            <a:r>
              <a:rPr dirty="0" sz="2000" spc="-8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525966"/>
                </a:solidFill>
                <a:latin typeface="Arial"/>
                <a:cs typeface="Arial"/>
              </a:rPr>
              <a:t>belirgin�ekilde</a:t>
            </a:r>
            <a:r>
              <a:rPr dirty="0" sz="2000" spc="-16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305">
                <a:solidFill>
                  <a:srgbClr val="525966"/>
                </a:solidFill>
                <a:latin typeface="Arial"/>
                <a:cs typeface="Arial"/>
              </a:rPr>
              <a:t>dO�Ok</a:t>
            </a:r>
            <a:r>
              <a:rPr dirty="0" sz="2000" spc="-14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525966"/>
                </a:solidFill>
                <a:latin typeface="Arial"/>
                <a:cs typeface="Arial"/>
              </a:rPr>
              <a:t>performans</a:t>
            </a:r>
            <a:r>
              <a:rPr dirty="0" sz="2000" spc="-6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25966"/>
                </a:solidFill>
                <a:latin typeface="Arial"/>
                <a:cs typeface="Arial"/>
              </a:rPr>
              <a:t>gostermektedir.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2000">
              <a:latin typeface="Arial"/>
              <a:cs typeface="Arial"/>
            </a:endParaRPr>
          </a:p>
          <a:p>
            <a:pPr marL="153670">
              <a:lnSpc>
                <a:spcPct val="100000"/>
              </a:lnSpc>
            </a:pPr>
            <a:r>
              <a:rPr dirty="0" sz="1650" spc="-30" i="1">
                <a:solidFill>
                  <a:srgbClr val="707987"/>
                </a:solidFill>
                <a:latin typeface="Arial"/>
                <a:cs typeface="Arial"/>
              </a:rPr>
              <a:t>Detay/1</a:t>
            </a:r>
            <a:r>
              <a:rPr dirty="0" sz="1650" spc="-45" i="1">
                <a:solidFill>
                  <a:srgbClr val="707987"/>
                </a:solidFill>
                <a:latin typeface="Arial"/>
                <a:cs typeface="Arial"/>
              </a:rPr>
              <a:t> </a:t>
            </a:r>
            <a:r>
              <a:rPr dirty="0" sz="1650" i="1">
                <a:solidFill>
                  <a:srgbClr val="707987"/>
                </a:solidFill>
                <a:latin typeface="Arial"/>
                <a:cs typeface="Arial"/>
              </a:rPr>
              <a:t>graftk</a:t>
            </a:r>
            <a:r>
              <a:rPr dirty="0" sz="1650" spc="95" i="1">
                <a:solidFill>
                  <a:srgbClr val="707987"/>
                </a:solidFill>
                <a:latin typeface="Arial"/>
                <a:cs typeface="Arial"/>
              </a:rPr>
              <a:t> </a:t>
            </a:r>
            <a:r>
              <a:rPr dirty="0" sz="1650" i="1">
                <a:solidFill>
                  <a:srgbClr val="707987"/>
                </a:solidFill>
                <a:latin typeface="Arial"/>
                <a:cs typeface="Arial"/>
              </a:rPr>
              <a:t>analizine</a:t>
            </a:r>
            <a:r>
              <a:rPr dirty="0" sz="1650" spc="165" i="1">
                <a:solidFill>
                  <a:srgbClr val="707987"/>
                </a:solidFill>
                <a:latin typeface="Arial"/>
                <a:cs typeface="Arial"/>
              </a:rPr>
              <a:t> </a:t>
            </a:r>
            <a:r>
              <a:rPr dirty="0" sz="1650" i="1">
                <a:solidFill>
                  <a:srgbClr val="707987"/>
                </a:solidFill>
                <a:latin typeface="Arial"/>
                <a:cs typeface="Arial"/>
              </a:rPr>
              <a:t>yandaki</a:t>
            </a:r>
            <a:r>
              <a:rPr dirty="0" sz="1650" spc="175" i="1">
                <a:solidFill>
                  <a:srgbClr val="707987"/>
                </a:solidFill>
                <a:latin typeface="Arial"/>
                <a:cs typeface="Arial"/>
              </a:rPr>
              <a:t> </a:t>
            </a:r>
            <a:r>
              <a:rPr dirty="0" sz="1650" spc="-75" b="1" i="1">
                <a:solidFill>
                  <a:srgbClr val="707987"/>
                </a:solidFill>
                <a:latin typeface="Arial"/>
                <a:cs typeface="Arial"/>
              </a:rPr>
              <a:t>cop_vs_tevap</a:t>
            </a:r>
            <a:r>
              <a:rPr dirty="0" sz="1650" spc="-75" b="1" i="1">
                <a:solidFill>
                  <a:srgbClr val="525966"/>
                </a:solidFill>
                <a:latin typeface="Arial"/>
                <a:cs typeface="Arial"/>
              </a:rPr>
              <a:t>.</a:t>
            </a:r>
            <a:r>
              <a:rPr dirty="0" sz="1650" spc="-75" b="1" i="1">
                <a:solidFill>
                  <a:srgbClr val="707987"/>
                </a:solidFill>
                <a:latin typeface="Arial"/>
                <a:cs typeface="Arial"/>
              </a:rPr>
              <a:t>png</a:t>
            </a:r>
            <a:r>
              <a:rPr dirty="0" sz="1650" spc="-35" b="1" i="1">
                <a:solidFill>
                  <a:srgbClr val="707987"/>
                </a:solidFill>
                <a:latin typeface="Arial"/>
                <a:cs typeface="Arial"/>
              </a:rPr>
              <a:t> </a:t>
            </a:r>
            <a:r>
              <a:rPr dirty="0" sz="1650" i="1">
                <a:solidFill>
                  <a:srgbClr val="707987"/>
                </a:solidFill>
                <a:latin typeface="Arial"/>
                <a:cs typeface="Arial"/>
              </a:rPr>
              <a:t>g6rselinden</a:t>
            </a:r>
            <a:r>
              <a:rPr dirty="0" sz="1650" spc="320" i="1">
                <a:solidFill>
                  <a:srgbClr val="707987"/>
                </a:solidFill>
                <a:latin typeface="Arial"/>
                <a:cs typeface="Arial"/>
              </a:rPr>
              <a:t> </a:t>
            </a:r>
            <a:r>
              <a:rPr dirty="0" sz="1650" spc="-10" i="1">
                <a:solidFill>
                  <a:srgbClr val="707987"/>
                </a:solidFill>
                <a:latin typeface="Arial"/>
                <a:cs typeface="Arial"/>
              </a:rPr>
              <a:t>ula�tlabilir.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0910" y="3307579"/>
            <a:ext cx="8762097" cy="595348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75313" y="724581"/>
            <a:ext cx="0" cy="819150"/>
          </a:xfrm>
          <a:custGeom>
            <a:avLst/>
            <a:gdLst/>
            <a:ahLst/>
            <a:cxnLst/>
            <a:rect l="l" t="t" r="r" b="b"/>
            <a:pathLst>
              <a:path w="0" h="819150">
                <a:moveTo>
                  <a:pt x="0" y="818997"/>
                </a:moveTo>
                <a:lnTo>
                  <a:pt x="0" y="0"/>
                </a:lnTo>
              </a:path>
            </a:pathLst>
          </a:custGeom>
          <a:ln w="786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9175920" y="3307575"/>
            <a:ext cx="0" cy="5922010"/>
          </a:xfrm>
          <a:custGeom>
            <a:avLst/>
            <a:gdLst/>
            <a:ahLst/>
            <a:cxnLst/>
            <a:rect l="l" t="t" r="r" b="b"/>
            <a:pathLst>
              <a:path w="0" h="5922009">
                <a:moveTo>
                  <a:pt x="0" y="5921985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476754" y="3276075"/>
            <a:ext cx="8636635" cy="0"/>
          </a:xfrm>
          <a:custGeom>
            <a:avLst/>
            <a:gdLst/>
            <a:ahLst/>
            <a:cxnLst/>
            <a:rect l="l" t="t" r="r" b="b"/>
            <a:pathLst>
              <a:path w="8636635" h="0">
                <a:moveTo>
                  <a:pt x="0" y="0"/>
                </a:moveTo>
                <a:lnTo>
                  <a:pt x="8636243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8333" rIns="0" bIns="0" rtlCol="0" vert="horz">
            <a:spAutoFit/>
          </a:bodyPr>
          <a:lstStyle/>
          <a:p>
            <a:pPr marL="36195">
              <a:lnSpc>
                <a:spcPct val="100000"/>
              </a:lnSpc>
              <a:spcBef>
                <a:spcPts val="135"/>
              </a:spcBef>
            </a:pPr>
            <a:r>
              <a:rPr dirty="0" sz="3900" spc="185">
                <a:solidFill>
                  <a:srgbClr val="0E1626"/>
                </a:solidFill>
              </a:rPr>
              <a:t>Bile§enlerde</a:t>
            </a:r>
            <a:r>
              <a:rPr dirty="0" sz="3900" spc="220">
                <a:solidFill>
                  <a:srgbClr val="0E1626"/>
                </a:solidFill>
              </a:rPr>
              <a:t> </a:t>
            </a:r>
            <a:r>
              <a:rPr dirty="0" sz="3900" spc="105">
                <a:solidFill>
                  <a:srgbClr val="0E1626"/>
                </a:solidFill>
              </a:rPr>
              <a:t>Ekserji</a:t>
            </a:r>
            <a:r>
              <a:rPr dirty="0" sz="3900" spc="125">
                <a:solidFill>
                  <a:srgbClr val="0E1626"/>
                </a:solidFill>
              </a:rPr>
              <a:t> </a:t>
            </a:r>
            <a:r>
              <a:rPr dirty="0" sz="3900" spc="-315">
                <a:solidFill>
                  <a:srgbClr val="0E1626"/>
                </a:solidFill>
              </a:rPr>
              <a:t>V1k1m1</a:t>
            </a:r>
            <a:endParaRPr sz="3900"/>
          </a:p>
        </p:txBody>
      </p:sp>
      <p:sp>
        <p:nvSpPr>
          <p:cNvPr id="7" name="object 7"/>
          <p:cNvSpPr txBox="1"/>
          <p:nvPr/>
        </p:nvSpPr>
        <p:spPr>
          <a:xfrm>
            <a:off x="931152" y="4315063"/>
            <a:ext cx="8061959" cy="883919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561340" marR="5080" indent="-549275">
              <a:lnSpc>
                <a:spcPct val="115999"/>
              </a:lnSpc>
              <a:spcBef>
                <a:spcPts val="254"/>
              </a:spcBef>
              <a:tabLst>
                <a:tab pos="557530" algn="l"/>
              </a:tabLst>
            </a:pPr>
            <a:r>
              <a:rPr dirty="0" sz="2650" spc="-50" b="1">
                <a:solidFill>
                  <a:srgbClr val="0FA1DF"/>
                </a:solidFill>
                <a:latin typeface="Arial"/>
                <a:cs typeface="Arial"/>
              </a:rPr>
              <a:t>A</a:t>
            </a:r>
            <a:r>
              <a:rPr dirty="0" sz="2650" b="1">
                <a:solidFill>
                  <a:srgbClr val="0FA1DF"/>
                </a:solidFill>
                <a:latin typeface="Arial"/>
                <a:cs typeface="Arial"/>
              </a:rPr>
              <a:t>	</a:t>
            </a:r>
            <a:r>
              <a:rPr dirty="0" sz="2000" spc="-90" b="1">
                <a:solidFill>
                  <a:srgbClr val="1F2636"/>
                </a:solidFill>
                <a:latin typeface="Arial"/>
                <a:cs typeface="Arial"/>
              </a:rPr>
              <a:t>Tev</a:t>
            </a:r>
            <a:r>
              <a:rPr dirty="0" sz="2000" spc="-145" b="1">
                <a:solidFill>
                  <a:srgbClr val="1F2636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F2636"/>
                </a:solidFill>
                <a:latin typeface="Arial"/>
                <a:cs typeface="Arial"/>
              </a:rPr>
              <a:t>=</a:t>
            </a:r>
            <a:r>
              <a:rPr dirty="0" sz="1650" spc="90" b="1">
                <a:solidFill>
                  <a:srgbClr val="1F2636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F2636"/>
                </a:solidFill>
                <a:latin typeface="Arial"/>
                <a:cs typeface="Arial"/>
              </a:rPr>
              <a:t>-3°C</a:t>
            </a:r>
            <a:r>
              <a:rPr dirty="0" sz="2000" spc="-220" b="1">
                <a:solidFill>
                  <a:srgbClr val="1F2636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1F2636"/>
                </a:solidFill>
                <a:latin typeface="Arial"/>
                <a:cs typeface="Arial"/>
              </a:rPr>
              <a:t>ve</a:t>
            </a:r>
            <a:r>
              <a:rPr dirty="0" sz="2000" spc="-195" b="1">
                <a:solidFill>
                  <a:srgbClr val="1F2636"/>
                </a:solidFill>
                <a:latin typeface="Arial"/>
                <a:cs typeface="Arial"/>
              </a:rPr>
              <a:t> </a:t>
            </a:r>
            <a:r>
              <a:rPr dirty="0" sz="2000" spc="-155" b="1">
                <a:solidFill>
                  <a:srgbClr val="1F2636"/>
                </a:solidFill>
                <a:latin typeface="Arial"/>
                <a:cs typeface="Arial"/>
              </a:rPr>
              <a:t>Tcond</a:t>
            </a:r>
            <a:r>
              <a:rPr dirty="0" sz="2000" spc="-60" b="1">
                <a:solidFill>
                  <a:srgbClr val="1F2636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F2636"/>
                </a:solidFill>
                <a:latin typeface="Arial"/>
                <a:cs typeface="Arial"/>
              </a:rPr>
              <a:t>=</a:t>
            </a:r>
            <a:r>
              <a:rPr dirty="0" sz="1650" spc="90" b="1">
                <a:solidFill>
                  <a:srgbClr val="1F2636"/>
                </a:solidFill>
                <a:latin typeface="Arial"/>
                <a:cs typeface="Arial"/>
              </a:rPr>
              <a:t> </a:t>
            </a:r>
            <a:r>
              <a:rPr dirty="0" sz="2000" spc="-55" b="1">
                <a:solidFill>
                  <a:srgbClr val="1F2636"/>
                </a:solidFill>
                <a:latin typeface="Arial"/>
                <a:cs typeface="Arial"/>
              </a:rPr>
              <a:t>45°C</a:t>
            </a:r>
            <a:r>
              <a:rPr dirty="0" sz="2000" spc="-190" b="1">
                <a:solidFill>
                  <a:srgbClr val="1F2636"/>
                </a:solidFill>
                <a:latin typeface="Arial"/>
                <a:cs typeface="Arial"/>
              </a:rPr>
              <a:t> </a:t>
            </a:r>
            <a:r>
              <a:rPr dirty="0" sz="2000" spc="-160">
                <a:solidFill>
                  <a:srgbClr val="3B5674"/>
                </a:solidFill>
                <a:latin typeface="Arial"/>
                <a:cs typeface="Arial"/>
              </a:rPr>
              <a:t>i&lt;;in</a:t>
            </a:r>
            <a:r>
              <a:rPr dirty="0" sz="2000" spc="-140">
                <a:solidFill>
                  <a:srgbClr val="3B5674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545964"/>
                </a:solidFill>
                <a:latin typeface="Arial"/>
                <a:cs typeface="Arial"/>
              </a:rPr>
              <a:t>en</a:t>
            </a:r>
            <a:r>
              <a:rPr dirty="0" sz="2000" spc="-245">
                <a:solidFill>
                  <a:srgbClr val="545964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545964"/>
                </a:solidFill>
                <a:latin typeface="Arial"/>
                <a:cs typeface="Arial"/>
              </a:rPr>
              <a:t>yuksek</a:t>
            </a:r>
            <a:r>
              <a:rPr dirty="0" sz="2000" spc="-165">
                <a:solidFill>
                  <a:srgbClr val="545964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545964"/>
                </a:solidFill>
                <a:latin typeface="Arial"/>
                <a:cs typeface="Arial"/>
              </a:rPr>
              <a:t>ekserji</a:t>
            </a:r>
            <a:r>
              <a:rPr dirty="0" sz="2000" spc="-140">
                <a:solidFill>
                  <a:srgbClr val="545964"/>
                </a:solidFill>
                <a:latin typeface="Arial"/>
                <a:cs typeface="Arial"/>
              </a:rPr>
              <a:t> </a:t>
            </a:r>
            <a:r>
              <a:rPr dirty="0" sz="2000" spc="-310">
                <a:solidFill>
                  <a:srgbClr val="545964"/>
                </a:solidFill>
                <a:latin typeface="Arial"/>
                <a:cs typeface="Arial"/>
              </a:rPr>
              <a:t>y1k1m1</a:t>
            </a:r>
            <a:r>
              <a:rPr dirty="0" sz="2000" spc="-295">
                <a:solidFill>
                  <a:srgbClr val="545964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45964"/>
                </a:solidFill>
                <a:latin typeface="Arial"/>
                <a:cs typeface="Arial"/>
              </a:rPr>
              <a:t>kompresorve </a:t>
            </a:r>
            <a:r>
              <a:rPr dirty="0" sz="2000" spc="-30">
                <a:solidFill>
                  <a:srgbClr val="545964"/>
                </a:solidFill>
                <a:latin typeface="Arial"/>
                <a:cs typeface="Arial"/>
              </a:rPr>
              <a:t>evaporatorde</a:t>
            </a:r>
            <a:r>
              <a:rPr dirty="0" sz="2000" spc="-150">
                <a:solidFill>
                  <a:srgbClr val="545964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545964"/>
                </a:solidFill>
                <a:latin typeface="Arial"/>
                <a:cs typeface="Arial"/>
              </a:rPr>
              <a:t>ger&lt;;ekle�mektedir.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1392" y="5098248"/>
            <a:ext cx="601345" cy="6115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0094" sz="3525" spc="-832" i="1">
                <a:solidFill>
                  <a:srgbClr val="0FA1DF"/>
                </a:solidFill>
                <a:latin typeface="Courier New"/>
                <a:cs typeface="Courier New"/>
              </a:rPr>
              <a:t>,</a:t>
            </a:r>
            <a:r>
              <a:rPr dirty="0" baseline="-20094" sz="3525" spc="-839" i="1">
                <a:solidFill>
                  <a:srgbClr val="0FA1DF"/>
                </a:solidFill>
                <a:latin typeface="Courier New"/>
                <a:cs typeface="Courier New"/>
              </a:rPr>
              <a:t> </a:t>
            </a:r>
            <a:r>
              <a:rPr dirty="0" sz="3850" spc="-245">
                <a:solidFill>
                  <a:srgbClr val="0FA1DF"/>
                </a:solidFill>
                <a:latin typeface="Arial"/>
                <a:cs typeface="Arial"/>
              </a:rPr>
              <a:t>.</a:t>
            </a:r>
            <a:r>
              <a:rPr dirty="0" sz="3850" spc="-40">
                <a:solidFill>
                  <a:srgbClr val="0FA1DF"/>
                </a:solidFill>
                <a:latin typeface="Arial"/>
                <a:cs typeface="Arial"/>
              </a:rPr>
              <a:t>.</a:t>
            </a:r>
            <a:r>
              <a:rPr dirty="0" baseline="-16569" sz="4275" spc="-1417">
                <a:solidFill>
                  <a:srgbClr val="0FA1DF"/>
                </a:solidFill>
                <a:latin typeface="Arial"/>
                <a:cs typeface="Arial"/>
              </a:rPr>
              <a:t>,</a:t>
            </a:r>
            <a:r>
              <a:rPr dirty="0" sz="1950" spc="-245">
                <a:solidFill>
                  <a:srgbClr val="0FA1DF"/>
                </a:solidFill>
                <a:latin typeface="Arial"/>
                <a:cs typeface="Arial"/>
              </a:rPr>
              <a:t>.</a:t>
            </a:r>
            <a:r>
              <a:rPr dirty="0" sz="1950" spc="-500">
                <a:solidFill>
                  <a:srgbClr val="0FA1DF"/>
                </a:solidFill>
                <a:latin typeface="Arial"/>
                <a:cs typeface="Arial"/>
              </a:rPr>
              <a:t>.</a:t>
            </a:r>
            <a:r>
              <a:rPr dirty="0" baseline="-16569" sz="4275" spc="-1222">
                <a:solidFill>
                  <a:srgbClr val="0FA1DF"/>
                </a:solidFill>
                <a:latin typeface="Arial"/>
                <a:cs typeface="Arial"/>
              </a:rPr>
              <a:t>.</a:t>
            </a:r>
            <a:r>
              <a:rPr dirty="0" sz="1950" spc="-245">
                <a:solidFill>
                  <a:srgbClr val="0FA1DF"/>
                </a:solidFill>
                <a:latin typeface="Arial"/>
                <a:cs typeface="Arial"/>
              </a:rPr>
              <a:t>.</a:t>
            </a:r>
            <a:endParaRPr sz="1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5283" y="5393559"/>
            <a:ext cx="7685405" cy="79756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735"/>
              </a:spcBef>
            </a:pPr>
            <a:r>
              <a:rPr dirty="0" sz="2000" spc="-45">
                <a:solidFill>
                  <a:srgbClr val="3B5674"/>
                </a:solidFill>
                <a:latin typeface="Arial"/>
                <a:cs typeface="Arial"/>
              </a:rPr>
              <a:t>R290</a:t>
            </a:r>
            <a:r>
              <a:rPr dirty="0" sz="2000" spc="-229">
                <a:solidFill>
                  <a:srgbClr val="3B5674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545964"/>
                </a:solidFill>
                <a:latin typeface="Arial"/>
                <a:cs typeface="Arial"/>
              </a:rPr>
              <a:t>ve</a:t>
            </a:r>
            <a:r>
              <a:rPr dirty="0" sz="2000" spc="-295">
                <a:solidFill>
                  <a:srgbClr val="545964"/>
                </a:solidFill>
                <a:latin typeface="Arial"/>
                <a:cs typeface="Arial"/>
              </a:rPr>
              <a:t> </a:t>
            </a:r>
            <a:r>
              <a:rPr dirty="0" sz="2000" spc="-95">
                <a:solidFill>
                  <a:srgbClr val="3B5674"/>
                </a:solidFill>
                <a:latin typeface="Arial"/>
                <a:cs typeface="Arial"/>
              </a:rPr>
              <a:t>R600a</a:t>
            </a:r>
            <a:r>
              <a:rPr dirty="0" sz="2000" spc="-110">
                <a:solidFill>
                  <a:srgbClr val="3B567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45964"/>
                </a:solidFill>
                <a:latin typeface="Arial"/>
                <a:cs typeface="Arial"/>
              </a:rPr>
              <a:t>gibi</a:t>
            </a:r>
            <a:r>
              <a:rPr dirty="0" sz="2000" spc="-195">
                <a:solidFill>
                  <a:srgbClr val="545964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545964"/>
                </a:solidFill>
                <a:latin typeface="Arial"/>
                <a:cs typeface="Arial"/>
              </a:rPr>
              <a:t>hidrokarbonlarda</a:t>
            </a:r>
            <a:r>
              <a:rPr dirty="0" sz="2000" spc="-110">
                <a:solidFill>
                  <a:srgbClr val="545964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545964"/>
                </a:solidFill>
                <a:latin typeface="Arial"/>
                <a:cs typeface="Arial"/>
              </a:rPr>
              <a:t>kompresor</a:t>
            </a:r>
            <a:r>
              <a:rPr dirty="0" sz="2000" spc="-30">
                <a:solidFill>
                  <a:srgbClr val="545964"/>
                </a:solidFill>
                <a:latin typeface="Arial"/>
                <a:cs typeface="Arial"/>
              </a:rPr>
              <a:t> </a:t>
            </a:r>
            <a:r>
              <a:rPr dirty="0" sz="2000" spc="-195">
                <a:solidFill>
                  <a:srgbClr val="3B5674"/>
                </a:solidFill>
                <a:latin typeface="Arial"/>
                <a:cs typeface="Arial"/>
              </a:rPr>
              <a:t>i&lt;;i</a:t>
            </a:r>
            <a:r>
              <a:rPr dirty="0" sz="2000" spc="-140">
                <a:solidFill>
                  <a:srgbClr val="3B5674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3B5674"/>
                </a:solidFill>
                <a:latin typeface="Arial"/>
                <a:cs typeface="Arial"/>
              </a:rPr>
              <a:t>tersinmezlikler</a:t>
            </a:r>
            <a:r>
              <a:rPr dirty="0" sz="2000" spc="-229">
                <a:solidFill>
                  <a:srgbClr val="3B5674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545964"/>
                </a:solidFill>
                <a:latin typeface="Arial"/>
                <a:cs typeface="Arial"/>
              </a:rPr>
              <a:t>one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2000" spc="-130">
                <a:solidFill>
                  <a:srgbClr val="545964"/>
                </a:solidFill>
                <a:latin typeface="Arial"/>
                <a:cs typeface="Arial"/>
              </a:rPr>
              <a:t>&lt;;1kmaktad1r.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0870" y="6240120"/>
            <a:ext cx="345440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-21604" sz="4050" spc="-517" b="1">
                <a:solidFill>
                  <a:srgbClr val="0FA1DF"/>
                </a:solidFill>
                <a:latin typeface="Arial"/>
                <a:cs typeface="Arial"/>
              </a:rPr>
              <a:t>Q</a:t>
            </a:r>
            <a:r>
              <a:rPr dirty="0" sz="1150" spc="-345" b="1">
                <a:solidFill>
                  <a:srgbClr val="0FA1DF"/>
                </a:solidFill>
                <a:latin typeface="Arial"/>
                <a:cs typeface="Arial"/>
              </a:rPr>
              <a:t>0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77269" y="6393681"/>
            <a:ext cx="7642859" cy="7816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875" marR="5080" indent="-3810">
              <a:lnSpc>
                <a:spcPct val="124000"/>
              </a:lnSpc>
              <a:spcBef>
                <a:spcPts val="95"/>
              </a:spcBef>
            </a:pPr>
            <a:r>
              <a:rPr dirty="0" sz="2000" spc="-20">
                <a:solidFill>
                  <a:srgbClr val="3B5674"/>
                </a:solidFill>
                <a:latin typeface="Arial"/>
                <a:cs typeface="Arial"/>
              </a:rPr>
              <a:t>Evaporatordeki</a:t>
            </a:r>
            <a:r>
              <a:rPr dirty="0" sz="2000" spc="-335">
                <a:solidFill>
                  <a:srgbClr val="3B5674"/>
                </a:solidFill>
                <a:latin typeface="Arial"/>
                <a:cs typeface="Arial"/>
              </a:rPr>
              <a:t> </a:t>
            </a:r>
            <a:r>
              <a:rPr dirty="0" sz="2000" spc="-210">
                <a:solidFill>
                  <a:srgbClr val="545964"/>
                </a:solidFill>
                <a:latin typeface="Arial"/>
                <a:cs typeface="Arial"/>
              </a:rPr>
              <a:t>s1cakl1k</a:t>
            </a:r>
            <a:r>
              <a:rPr dirty="0" sz="2000" spc="-70">
                <a:solidFill>
                  <a:srgbClr val="545964"/>
                </a:solidFill>
                <a:latin typeface="Arial"/>
                <a:cs typeface="Arial"/>
              </a:rPr>
              <a:t> </a:t>
            </a:r>
            <a:r>
              <a:rPr dirty="0" sz="2000" spc="-135">
                <a:solidFill>
                  <a:srgbClr val="3B5674"/>
                </a:solidFill>
                <a:latin typeface="Arial"/>
                <a:cs typeface="Arial"/>
              </a:rPr>
              <a:t>fark1,</a:t>
            </a:r>
            <a:r>
              <a:rPr dirty="0" sz="2000" spc="-290">
                <a:solidFill>
                  <a:srgbClr val="3B5674"/>
                </a:solidFill>
                <a:latin typeface="Arial"/>
                <a:cs typeface="Arial"/>
              </a:rPr>
              <a:t> </a:t>
            </a:r>
            <a:r>
              <a:rPr dirty="0" sz="2000" spc="-425">
                <a:solidFill>
                  <a:srgbClr val="3B5674"/>
                </a:solidFill>
                <a:latin typeface="Arial"/>
                <a:cs typeface="Arial"/>
              </a:rPr>
              <a:t>1s1</a:t>
            </a:r>
            <a:r>
              <a:rPr dirty="0" sz="2000" spc="-195">
                <a:solidFill>
                  <a:srgbClr val="3B5674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3B5674"/>
                </a:solidFill>
                <a:latin typeface="Arial"/>
                <a:cs typeface="Arial"/>
              </a:rPr>
              <a:t>transferindeki</a:t>
            </a:r>
            <a:r>
              <a:rPr dirty="0" sz="2000" spc="-204">
                <a:solidFill>
                  <a:srgbClr val="3B5674"/>
                </a:solidFill>
                <a:latin typeface="Arial"/>
                <a:cs typeface="Arial"/>
              </a:rPr>
              <a:t> </a:t>
            </a:r>
            <a:r>
              <a:rPr dirty="0" sz="2000" spc="-30">
                <a:solidFill>
                  <a:srgbClr val="545964"/>
                </a:solidFill>
                <a:latin typeface="Arial"/>
                <a:cs typeface="Arial"/>
              </a:rPr>
              <a:t>tersinmezlik</a:t>
            </a:r>
            <a:r>
              <a:rPr dirty="0" sz="2000" spc="5">
                <a:solidFill>
                  <a:srgbClr val="545964"/>
                </a:solidFill>
                <a:latin typeface="Arial"/>
                <a:cs typeface="Arial"/>
              </a:rPr>
              <a:t> </a:t>
            </a:r>
            <a:r>
              <a:rPr dirty="0" sz="2000" spc="-155">
                <a:solidFill>
                  <a:srgbClr val="545964"/>
                </a:solidFill>
                <a:latin typeface="Arial"/>
                <a:cs typeface="Arial"/>
              </a:rPr>
              <a:t>kay1plar1n1n </a:t>
            </a:r>
            <a:r>
              <a:rPr dirty="0" sz="2000">
                <a:solidFill>
                  <a:srgbClr val="545964"/>
                </a:solidFill>
                <a:latin typeface="Arial"/>
                <a:cs typeface="Arial"/>
              </a:rPr>
              <a:t>birincil</a:t>
            </a:r>
            <a:r>
              <a:rPr dirty="0" sz="2000" spc="-110">
                <a:solidFill>
                  <a:srgbClr val="545964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45964"/>
                </a:solidFill>
                <a:latin typeface="Arial"/>
                <a:cs typeface="Arial"/>
              </a:rPr>
              <a:t>nedenidir.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7365" y="7543429"/>
            <a:ext cx="663257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0" i="1">
                <a:solidFill>
                  <a:srgbClr val="707987"/>
                </a:solidFill>
                <a:latin typeface="Arial"/>
                <a:cs typeface="Arial"/>
              </a:rPr>
              <a:t>Dag</a:t>
            </a:r>
            <a:r>
              <a:rPr dirty="0" sz="1250" spc="10" i="1">
                <a:solidFill>
                  <a:srgbClr val="707987"/>
                </a:solidFill>
                <a:latin typeface="Arial"/>
                <a:cs typeface="Arial"/>
              </a:rPr>
              <a:t>1/1m</a:t>
            </a:r>
            <a:r>
              <a:rPr dirty="0" sz="1250" spc="-75" i="1">
                <a:solidFill>
                  <a:srgbClr val="707987"/>
                </a:solidFill>
                <a:latin typeface="Arial"/>
                <a:cs typeface="Arial"/>
              </a:rPr>
              <a:t> </a:t>
            </a:r>
            <a:r>
              <a:rPr dirty="0" sz="1700" spc="10" i="1">
                <a:solidFill>
                  <a:srgbClr val="707987"/>
                </a:solidFill>
                <a:latin typeface="Arial"/>
                <a:cs typeface="Arial"/>
              </a:rPr>
              <a:t>detaylar,</a:t>
            </a:r>
            <a:r>
              <a:rPr dirty="0" sz="1700" spc="-150" i="1">
                <a:solidFill>
                  <a:srgbClr val="707987"/>
                </a:solidFill>
                <a:latin typeface="Arial"/>
                <a:cs typeface="Arial"/>
              </a:rPr>
              <a:t> </a:t>
            </a:r>
            <a:r>
              <a:rPr dirty="0" sz="1550" spc="10" b="1" i="1">
                <a:solidFill>
                  <a:srgbClr val="707987"/>
                </a:solidFill>
                <a:latin typeface="Arial"/>
                <a:cs typeface="Arial"/>
              </a:rPr>
              <a:t>exergy_destruction.png</a:t>
            </a:r>
            <a:r>
              <a:rPr dirty="0" sz="1700" spc="10" i="1">
                <a:solidFill>
                  <a:srgbClr val="707987"/>
                </a:solidFill>
                <a:latin typeface="Arial"/>
                <a:cs typeface="Arial"/>
              </a:rPr>
              <a:t>dosyas,ndan</a:t>
            </a:r>
            <a:r>
              <a:rPr dirty="0" sz="1700" spc="225" i="1">
                <a:solidFill>
                  <a:srgbClr val="707987"/>
                </a:solidFill>
                <a:latin typeface="Arial"/>
                <a:cs typeface="Arial"/>
              </a:rPr>
              <a:t> </a:t>
            </a:r>
            <a:r>
              <a:rPr dirty="0" sz="1700" spc="-10" i="1">
                <a:solidFill>
                  <a:srgbClr val="707987"/>
                </a:solidFill>
                <a:latin typeface="Arial"/>
                <a:cs typeface="Arial"/>
              </a:rPr>
              <a:t>incelenebilir.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4200" y="945081"/>
            <a:ext cx="361810" cy="519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3852" y="4520324"/>
            <a:ext cx="283155" cy="251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3852" y="5496822"/>
            <a:ext cx="283155" cy="2834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50910" y="3307579"/>
            <a:ext cx="8762097" cy="595348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75313" y="724581"/>
            <a:ext cx="0" cy="819150"/>
          </a:xfrm>
          <a:custGeom>
            <a:avLst/>
            <a:gdLst/>
            <a:ahLst/>
            <a:cxnLst/>
            <a:rect l="l" t="t" r="r" b="b"/>
            <a:pathLst>
              <a:path w="0" h="819150">
                <a:moveTo>
                  <a:pt x="0" y="818997"/>
                </a:moveTo>
                <a:lnTo>
                  <a:pt x="0" y="0"/>
                </a:lnTo>
              </a:path>
            </a:pathLst>
          </a:custGeom>
          <a:ln w="786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9175920" y="3307575"/>
            <a:ext cx="0" cy="5922010"/>
          </a:xfrm>
          <a:custGeom>
            <a:avLst/>
            <a:gdLst/>
            <a:ahLst/>
            <a:cxnLst/>
            <a:rect l="l" t="t" r="r" b="b"/>
            <a:pathLst>
              <a:path w="0" h="5922009">
                <a:moveTo>
                  <a:pt x="0" y="5921985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476754" y="3276075"/>
            <a:ext cx="8636635" cy="0"/>
          </a:xfrm>
          <a:custGeom>
            <a:avLst/>
            <a:gdLst/>
            <a:ahLst/>
            <a:cxnLst/>
            <a:rect l="l" t="t" r="r" b="b"/>
            <a:pathLst>
              <a:path w="8636635" h="0">
                <a:moveTo>
                  <a:pt x="0" y="0"/>
                </a:moveTo>
                <a:lnTo>
                  <a:pt x="8636243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448309">
              <a:lnSpc>
                <a:spcPct val="100000"/>
              </a:lnSpc>
              <a:spcBef>
                <a:spcPts val="110"/>
              </a:spcBef>
            </a:pPr>
            <a:r>
              <a:rPr dirty="0" sz="4300" spc="55">
                <a:solidFill>
                  <a:srgbClr val="0E1626"/>
                </a:solidFill>
              </a:rPr>
              <a:t>evresel</a:t>
            </a:r>
            <a:r>
              <a:rPr dirty="0" sz="4300" spc="-100">
                <a:solidFill>
                  <a:srgbClr val="0E1626"/>
                </a:solidFill>
              </a:rPr>
              <a:t> </a:t>
            </a:r>
            <a:r>
              <a:rPr dirty="0" sz="4300" spc="160">
                <a:solidFill>
                  <a:srgbClr val="0E1626"/>
                </a:solidFill>
              </a:rPr>
              <a:t>ve</a:t>
            </a:r>
            <a:r>
              <a:rPr dirty="0" sz="4300" spc="-240">
                <a:solidFill>
                  <a:srgbClr val="0E1626"/>
                </a:solidFill>
              </a:rPr>
              <a:t> </a:t>
            </a:r>
            <a:r>
              <a:rPr dirty="0" sz="4300" spc="90">
                <a:solidFill>
                  <a:srgbClr val="0E1626"/>
                </a:solidFill>
              </a:rPr>
              <a:t>Termodinamik</a:t>
            </a:r>
            <a:r>
              <a:rPr dirty="0" sz="4300" spc="420">
                <a:solidFill>
                  <a:srgbClr val="0E1626"/>
                </a:solidFill>
              </a:rPr>
              <a:t> </a:t>
            </a:r>
            <a:r>
              <a:rPr dirty="0" sz="4300" spc="90">
                <a:solidFill>
                  <a:srgbClr val="0E1626"/>
                </a:solidFill>
              </a:rPr>
              <a:t>Denge</a:t>
            </a:r>
            <a:endParaRPr sz="4300"/>
          </a:p>
        </p:txBody>
      </p:sp>
      <p:sp>
        <p:nvSpPr>
          <p:cNvPr id="10" name="object 10"/>
          <p:cNvSpPr txBox="1"/>
          <p:nvPr/>
        </p:nvSpPr>
        <p:spPr>
          <a:xfrm>
            <a:off x="936689" y="4417062"/>
            <a:ext cx="8768080" cy="341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51815" marR="5080" indent="-6350">
              <a:lnSpc>
                <a:spcPct val="124000"/>
              </a:lnSpc>
              <a:spcBef>
                <a:spcPts val="95"/>
              </a:spcBef>
            </a:pPr>
            <a:r>
              <a:rPr dirty="0" sz="1900" spc="130" b="1">
                <a:solidFill>
                  <a:srgbClr val="1F2634"/>
                </a:solidFill>
                <a:latin typeface="Arial"/>
                <a:cs typeface="Arial"/>
              </a:rPr>
              <a:t>GWP</a:t>
            </a:r>
            <a:r>
              <a:rPr dirty="0" sz="1900" spc="-175" b="1">
                <a:solidFill>
                  <a:srgbClr val="1F2634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1F2634"/>
                </a:solidFill>
                <a:latin typeface="Arial"/>
                <a:cs typeface="Arial"/>
              </a:rPr>
              <a:t>ve</a:t>
            </a:r>
            <a:r>
              <a:rPr dirty="0" sz="1950" spc="-210" b="1">
                <a:solidFill>
                  <a:srgbClr val="1F2634"/>
                </a:solidFill>
                <a:latin typeface="Arial"/>
                <a:cs typeface="Arial"/>
              </a:rPr>
              <a:t> </a:t>
            </a:r>
            <a:r>
              <a:rPr dirty="0" sz="1900" spc="65" b="1">
                <a:solidFill>
                  <a:srgbClr val="1F2634"/>
                </a:solidFill>
                <a:latin typeface="Arial"/>
                <a:cs typeface="Arial"/>
              </a:rPr>
              <a:t>COP</a:t>
            </a:r>
            <a:r>
              <a:rPr dirty="0" sz="1900" spc="-185" b="1">
                <a:solidFill>
                  <a:srgbClr val="1F2634"/>
                </a:solidFill>
                <a:latin typeface="Arial"/>
                <a:cs typeface="Arial"/>
              </a:rPr>
              <a:t> </a:t>
            </a:r>
            <a:r>
              <a:rPr dirty="0" sz="1950" spc="-210" b="1">
                <a:solidFill>
                  <a:srgbClr val="1F2634"/>
                </a:solidFill>
                <a:latin typeface="Arial"/>
                <a:cs typeface="Arial"/>
              </a:rPr>
              <a:t>Kar�1la�t1rmas1:</a:t>
            </a:r>
            <a:r>
              <a:rPr dirty="0" sz="1950" spc="-300" b="1">
                <a:solidFill>
                  <a:srgbClr val="1F2634"/>
                </a:solidFill>
                <a:latin typeface="Arial"/>
                <a:cs typeface="Arial"/>
              </a:rPr>
              <a:t> </a:t>
            </a:r>
            <a:r>
              <a:rPr dirty="0" sz="2000" spc="-90">
                <a:solidFill>
                  <a:srgbClr val="525966"/>
                </a:solidFill>
                <a:latin typeface="Arial"/>
                <a:cs typeface="Arial"/>
              </a:rPr>
              <a:t>R134a</a:t>
            </a:r>
            <a:r>
              <a:rPr dirty="0" sz="2000" spc="-8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525966"/>
                </a:solidFill>
                <a:latin typeface="Arial"/>
                <a:cs typeface="Arial"/>
              </a:rPr>
              <a:t>yuksek</a:t>
            </a:r>
            <a:r>
              <a:rPr dirty="0" sz="2000" spc="-16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525966"/>
                </a:solidFill>
                <a:latin typeface="Arial"/>
                <a:cs typeface="Arial"/>
              </a:rPr>
              <a:t>COP</a:t>
            </a:r>
            <a:r>
              <a:rPr dirty="0" sz="2000" spc="-19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160">
                <a:solidFill>
                  <a:srgbClr val="525966"/>
                </a:solidFill>
                <a:latin typeface="Arial"/>
                <a:cs typeface="Arial"/>
              </a:rPr>
              <a:t>sunmas1na</a:t>
            </a:r>
            <a:r>
              <a:rPr dirty="0" sz="2000" spc="3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525966"/>
                </a:solidFill>
                <a:latin typeface="Arial"/>
                <a:cs typeface="Arial"/>
              </a:rPr>
              <a:t>ragmen </a:t>
            </a:r>
            <a:r>
              <a:rPr dirty="0" sz="2000" spc="-40">
                <a:solidFill>
                  <a:srgbClr val="525966"/>
                </a:solidFill>
                <a:latin typeface="Arial"/>
                <a:cs typeface="Arial"/>
              </a:rPr>
              <a:t>1370 </a:t>
            </a:r>
            <a:r>
              <a:rPr dirty="0" sz="2000" spc="-25">
                <a:solidFill>
                  <a:srgbClr val="525966"/>
                </a:solidFill>
                <a:latin typeface="Arial"/>
                <a:cs typeface="Arial"/>
              </a:rPr>
              <a:t>GWP</a:t>
            </a:r>
            <a:r>
              <a:rPr dirty="0" sz="2000" spc="-22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30">
                <a:solidFill>
                  <a:srgbClr val="525966"/>
                </a:solidFill>
                <a:latin typeface="Arial"/>
                <a:cs typeface="Arial"/>
              </a:rPr>
              <a:t>degeriyle</a:t>
            </a:r>
            <a:r>
              <a:rPr dirty="0" sz="2000" spc="-17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155">
                <a:solidFill>
                  <a:srgbClr val="525966"/>
                </a:solidFill>
                <a:latin typeface="Arial"/>
                <a:cs typeface="Arial"/>
              </a:rPr>
              <a:t>c;evre</a:t>
            </a:r>
            <a:r>
              <a:rPr dirty="0" sz="2000" spc="-15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25966"/>
                </a:solidFill>
                <a:latin typeface="Arial"/>
                <a:cs typeface="Arial"/>
              </a:rPr>
              <a:t>dostu</a:t>
            </a:r>
            <a:r>
              <a:rPr dirty="0" sz="2000" spc="-16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30">
                <a:solidFill>
                  <a:srgbClr val="525966"/>
                </a:solidFill>
                <a:latin typeface="Arial"/>
                <a:cs typeface="Arial"/>
              </a:rPr>
              <a:t>olmaktan</a:t>
            </a:r>
            <a:r>
              <a:rPr dirty="0" sz="2000" spc="-16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25966"/>
                </a:solidFill>
                <a:latin typeface="Arial"/>
                <a:cs typeface="Arial"/>
              </a:rPr>
              <a:t>uzakt</a:t>
            </a:r>
            <a:r>
              <a:rPr dirty="0" sz="2000" spc="-10">
                <a:solidFill>
                  <a:srgbClr val="3A5677"/>
                </a:solidFill>
                <a:latin typeface="Arial"/>
                <a:cs typeface="Arial"/>
              </a:rPr>
              <a:t>1</a:t>
            </a:r>
            <a:r>
              <a:rPr dirty="0" sz="2000" spc="-10">
                <a:solidFill>
                  <a:srgbClr val="525966"/>
                </a:solidFill>
                <a:latin typeface="Arial"/>
                <a:cs typeface="Arial"/>
              </a:rPr>
              <a:t>r</a:t>
            </a:r>
            <a:r>
              <a:rPr dirty="0" sz="2000" spc="-10">
                <a:solidFill>
                  <a:srgbClr val="3A3D41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0">
              <a:latin typeface="Arial"/>
              <a:cs typeface="Arial"/>
            </a:endParaRPr>
          </a:p>
          <a:p>
            <a:pPr marL="557530">
              <a:lnSpc>
                <a:spcPct val="100000"/>
              </a:lnSpc>
            </a:pPr>
            <a:r>
              <a:rPr dirty="0" sz="2000" spc="-25">
                <a:solidFill>
                  <a:srgbClr val="525966"/>
                </a:solidFill>
                <a:latin typeface="Arial"/>
                <a:cs typeface="Arial"/>
              </a:rPr>
              <a:t>AB</a:t>
            </a:r>
            <a:r>
              <a:rPr dirty="0" sz="2000" spc="-28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3A5677"/>
                </a:solidFill>
                <a:latin typeface="Arial"/>
                <a:cs typeface="Arial"/>
              </a:rPr>
              <a:t>F-</a:t>
            </a:r>
            <a:r>
              <a:rPr dirty="0" sz="2000" spc="-95">
                <a:solidFill>
                  <a:srgbClr val="3A5677"/>
                </a:solidFill>
                <a:latin typeface="Arial"/>
                <a:cs typeface="Arial"/>
              </a:rPr>
              <a:t>Gas</a:t>
            </a:r>
            <a:r>
              <a:rPr dirty="0" sz="2000" spc="-200">
                <a:solidFill>
                  <a:srgbClr val="3A5677"/>
                </a:solidFill>
                <a:latin typeface="Arial"/>
                <a:cs typeface="Arial"/>
              </a:rPr>
              <a:t> </a:t>
            </a:r>
            <a:r>
              <a:rPr dirty="0" sz="2000" spc="-135">
                <a:solidFill>
                  <a:srgbClr val="525966"/>
                </a:solidFill>
                <a:latin typeface="Arial"/>
                <a:cs typeface="Arial"/>
              </a:rPr>
              <a:t>regulasyonlar1s1n1r1na</a:t>
            </a:r>
            <a:r>
              <a:rPr dirty="0" sz="2000" spc="2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525966"/>
                </a:solidFill>
                <a:latin typeface="Arial"/>
                <a:cs typeface="Arial"/>
              </a:rPr>
              <a:t>(GWP</a:t>
            </a:r>
            <a:r>
              <a:rPr dirty="0" sz="2000" spc="-13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25966"/>
                </a:solidFill>
                <a:latin typeface="Arial"/>
                <a:cs typeface="Arial"/>
              </a:rPr>
              <a:t>&lt;</a:t>
            </a:r>
            <a:r>
              <a:rPr dirty="0" sz="1600" spc="8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35">
                <a:solidFill>
                  <a:srgbClr val="525966"/>
                </a:solidFill>
                <a:latin typeface="Arial"/>
                <a:cs typeface="Arial"/>
              </a:rPr>
              <a:t>150)</a:t>
            </a:r>
            <a:r>
              <a:rPr dirty="0" sz="2000" spc="-55">
                <a:solidFill>
                  <a:srgbClr val="525966"/>
                </a:solidFill>
                <a:latin typeface="Arial"/>
                <a:cs typeface="Arial"/>
              </a:rPr>
              <a:t> en</a:t>
            </a:r>
            <a:r>
              <a:rPr dirty="0" sz="2000" spc="-28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35">
                <a:solidFill>
                  <a:srgbClr val="525966"/>
                </a:solidFill>
                <a:latin typeface="Arial"/>
                <a:cs typeface="Arial"/>
              </a:rPr>
              <a:t>uygun</a:t>
            </a:r>
            <a:r>
              <a:rPr dirty="0" sz="2000" spc="-16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25966"/>
                </a:solidFill>
                <a:latin typeface="Arial"/>
                <a:cs typeface="Arial"/>
              </a:rPr>
              <a:t>alternatifler</a:t>
            </a:r>
            <a:endParaRPr sz="2000">
              <a:latin typeface="Arial"/>
              <a:cs typeface="Arial"/>
            </a:endParaRPr>
          </a:p>
          <a:p>
            <a:pPr marL="555625">
              <a:lnSpc>
                <a:spcPct val="100000"/>
              </a:lnSpc>
              <a:spcBef>
                <a:spcPts val="575"/>
              </a:spcBef>
            </a:pPr>
            <a:r>
              <a:rPr dirty="0" sz="1900" b="1">
                <a:solidFill>
                  <a:srgbClr val="1F2634"/>
                </a:solidFill>
                <a:latin typeface="Arial"/>
                <a:cs typeface="Arial"/>
              </a:rPr>
              <a:t>R1234yf</a:t>
            </a:r>
            <a:r>
              <a:rPr dirty="0" sz="1900" spc="80" b="1">
                <a:solidFill>
                  <a:srgbClr val="1F2634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1F2634"/>
                </a:solidFill>
                <a:latin typeface="Arial"/>
                <a:cs typeface="Arial"/>
              </a:rPr>
              <a:t>(HFO)</a:t>
            </a:r>
            <a:r>
              <a:rPr dirty="0" sz="1900" spc="-75" b="1">
                <a:solidFill>
                  <a:srgbClr val="1F2634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525966"/>
                </a:solidFill>
                <a:latin typeface="Arial"/>
                <a:cs typeface="Arial"/>
              </a:rPr>
              <a:t>ve</a:t>
            </a:r>
            <a:r>
              <a:rPr dirty="0" sz="2000" spc="-32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35">
                <a:solidFill>
                  <a:srgbClr val="525966"/>
                </a:solidFill>
                <a:latin typeface="Arial"/>
                <a:cs typeface="Arial"/>
              </a:rPr>
              <a:t>hidrokarbonlard1r</a:t>
            </a:r>
            <a:r>
              <a:rPr dirty="0" sz="2000" spc="-18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525966"/>
                </a:solidFill>
                <a:latin typeface="Arial"/>
                <a:cs typeface="Arial"/>
              </a:rPr>
              <a:t>(R290,</a:t>
            </a:r>
            <a:r>
              <a:rPr dirty="0" sz="2000" spc="-204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25966"/>
                </a:solidFill>
                <a:latin typeface="Arial"/>
                <a:cs typeface="Arial"/>
              </a:rPr>
              <a:t>R600a).</a:t>
            </a:r>
            <a:endParaRPr sz="2000">
              <a:latin typeface="Arial"/>
              <a:cs typeface="Arial"/>
            </a:endParaRPr>
          </a:p>
          <a:p>
            <a:pPr marL="553085" marR="239395" indent="-635">
              <a:lnSpc>
                <a:spcPct val="121400"/>
              </a:lnSpc>
              <a:spcBef>
                <a:spcPts val="1985"/>
              </a:spcBef>
            </a:pPr>
            <a:r>
              <a:rPr dirty="0" sz="2000" spc="-90">
                <a:solidFill>
                  <a:srgbClr val="525966"/>
                </a:solidFill>
                <a:latin typeface="Arial"/>
                <a:cs typeface="Arial"/>
              </a:rPr>
              <a:t>R600a</a:t>
            </a:r>
            <a:r>
              <a:rPr dirty="0" sz="2000" spc="-3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525966"/>
                </a:solidFill>
                <a:latin typeface="Arial"/>
                <a:cs typeface="Arial"/>
              </a:rPr>
              <a:t>ve</a:t>
            </a:r>
            <a:r>
              <a:rPr dirty="0" sz="2000" spc="-27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525966"/>
                </a:solidFill>
                <a:latin typeface="Arial"/>
                <a:cs typeface="Arial"/>
              </a:rPr>
              <a:t>R290,</a:t>
            </a:r>
            <a:r>
              <a:rPr dirty="0" sz="2000" spc="-18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240">
                <a:solidFill>
                  <a:srgbClr val="525966"/>
                </a:solidFill>
                <a:latin typeface="Arial"/>
                <a:cs typeface="Arial"/>
              </a:rPr>
              <a:t>du�Ok</a:t>
            </a:r>
            <a:r>
              <a:rPr dirty="0" sz="2000" spc="-6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525966"/>
                </a:solidFill>
                <a:latin typeface="Arial"/>
                <a:cs typeface="Arial"/>
              </a:rPr>
              <a:t>GWP</a:t>
            </a:r>
            <a:r>
              <a:rPr dirty="0" sz="2000" spc="-12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525966"/>
                </a:solidFill>
                <a:latin typeface="Arial"/>
                <a:cs typeface="Arial"/>
              </a:rPr>
              <a:t>degerleriyle</a:t>
            </a:r>
            <a:r>
              <a:rPr dirty="0" sz="2000" spc="-110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525966"/>
                </a:solidFill>
                <a:latin typeface="Arial"/>
                <a:cs typeface="Arial"/>
              </a:rPr>
              <a:t>gelecegin</a:t>
            </a:r>
            <a:r>
              <a:rPr dirty="0" sz="2000" spc="-6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25966"/>
                </a:solidFill>
                <a:latin typeface="Arial"/>
                <a:cs typeface="Arial"/>
              </a:rPr>
              <a:t>surdurulebilir</a:t>
            </a:r>
            <a:r>
              <a:rPr dirty="0" sz="2000" spc="-17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525966"/>
                </a:solidFill>
                <a:latin typeface="Arial"/>
                <a:cs typeface="Arial"/>
              </a:rPr>
              <a:t>sogutma </a:t>
            </a:r>
            <a:r>
              <a:rPr dirty="0" sz="2000">
                <a:solidFill>
                  <a:srgbClr val="525966"/>
                </a:solidFill>
                <a:latin typeface="Arial"/>
                <a:cs typeface="Arial"/>
              </a:rPr>
              <a:t>teknolojilerini</a:t>
            </a:r>
            <a:r>
              <a:rPr dirty="0" sz="2000" spc="-14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525966"/>
                </a:solidFill>
                <a:latin typeface="Arial"/>
                <a:cs typeface="Arial"/>
              </a:rPr>
              <a:t>temsil</a:t>
            </a:r>
            <a:r>
              <a:rPr dirty="0" sz="2000" spc="25">
                <a:solidFill>
                  <a:srgbClr val="525966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25966"/>
                </a:solidFill>
                <a:latin typeface="Arial"/>
                <a:cs typeface="Arial"/>
              </a:rPr>
              <a:t>eder.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50" i="1">
                <a:solidFill>
                  <a:srgbClr val="727B87"/>
                </a:solidFill>
                <a:latin typeface="Arial"/>
                <a:cs typeface="Arial"/>
              </a:rPr>
              <a:t>Regiilasyon</a:t>
            </a:r>
            <a:r>
              <a:rPr dirty="0" sz="1650" spc="155" i="1">
                <a:solidFill>
                  <a:srgbClr val="727B87"/>
                </a:solidFill>
                <a:latin typeface="Arial"/>
                <a:cs typeface="Arial"/>
              </a:rPr>
              <a:t> </a:t>
            </a:r>
            <a:r>
              <a:rPr dirty="0" sz="1650" spc="-105" i="1">
                <a:solidFill>
                  <a:srgbClr val="727B87"/>
                </a:solidFill>
                <a:latin typeface="Arial"/>
                <a:cs typeface="Arial"/>
              </a:rPr>
              <a:t>s1n1r/ar1</a:t>
            </a:r>
            <a:r>
              <a:rPr dirty="0" sz="1650" spc="90" i="1">
                <a:solidFill>
                  <a:srgbClr val="727B87"/>
                </a:solidFill>
                <a:latin typeface="Arial"/>
                <a:cs typeface="Arial"/>
              </a:rPr>
              <a:t> </a:t>
            </a:r>
            <a:r>
              <a:rPr dirty="0" sz="1650" spc="65" i="1">
                <a:solidFill>
                  <a:srgbClr val="727B87"/>
                </a:solidFill>
                <a:latin typeface="Arial"/>
                <a:cs typeface="Arial"/>
              </a:rPr>
              <a:t>ve</a:t>
            </a:r>
            <a:r>
              <a:rPr dirty="0" sz="1650" spc="-265" i="1">
                <a:solidFill>
                  <a:srgbClr val="727B87"/>
                </a:solidFill>
                <a:latin typeface="Arial"/>
                <a:cs typeface="Arial"/>
              </a:rPr>
              <a:t> </a:t>
            </a:r>
            <a:r>
              <a:rPr dirty="0" sz="1650" spc="-40" i="1">
                <a:solidFill>
                  <a:srgbClr val="727B87"/>
                </a:solidFill>
                <a:latin typeface="Arial"/>
                <a:cs typeface="Arial"/>
              </a:rPr>
              <a:t>akt�kan</a:t>
            </a:r>
            <a:r>
              <a:rPr dirty="0" sz="1650" spc="145" i="1">
                <a:solidFill>
                  <a:srgbClr val="727B87"/>
                </a:solidFill>
                <a:latin typeface="Arial"/>
                <a:cs typeface="Arial"/>
              </a:rPr>
              <a:t> </a:t>
            </a:r>
            <a:r>
              <a:rPr dirty="0" sz="1650" spc="55" i="1">
                <a:solidFill>
                  <a:srgbClr val="727B87"/>
                </a:solidFill>
                <a:latin typeface="Arial"/>
                <a:cs typeface="Arial"/>
              </a:rPr>
              <a:t>konumlar,</a:t>
            </a:r>
            <a:r>
              <a:rPr dirty="0" sz="1650" spc="-265" i="1">
                <a:solidFill>
                  <a:srgbClr val="727B87"/>
                </a:solidFill>
                <a:latin typeface="Arial"/>
                <a:cs typeface="Arial"/>
              </a:rPr>
              <a:t> </a:t>
            </a:r>
            <a:r>
              <a:rPr dirty="0" sz="1550" b="1" i="1">
                <a:solidFill>
                  <a:srgbClr val="727B87"/>
                </a:solidFill>
                <a:latin typeface="Arial"/>
                <a:cs typeface="Arial"/>
              </a:rPr>
              <a:t>gwp_cop.png</a:t>
            </a:r>
            <a:r>
              <a:rPr dirty="0" sz="1550" spc="-165" b="1" i="1">
                <a:solidFill>
                  <a:srgbClr val="727B87"/>
                </a:solidFill>
                <a:latin typeface="Arial"/>
                <a:cs typeface="Arial"/>
              </a:rPr>
              <a:t> </a:t>
            </a:r>
            <a:r>
              <a:rPr dirty="0" sz="1650" i="1">
                <a:solidFill>
                  <a:srgbClr val="727B87"/>
                </a:solidFill>
                <a:latin typeface="Arial"/>
                <a:cs typeface="Arial"/>
              </a:rPr>
              <a:t>gorselinde</a:t>
            </a:r>
            <a:r>
              <a:rPr dirty="0" sz="1650" spc="-90" i="1">
                <a:solidFill>
                  <a:srgbClr val="727B87"/>
                </a:solidFill>
                <a:latin typeface="Arial"/>
                <a:cs typeface="Arial"/>
              </a:rPr>
              <a:t> </a:t>
            </a:r>
            <a:r>
              <a:rPr dirty="0" sz="1650" spc="-10" i="1">
                <a:solidFill>
                  <a:srgbClr val="727B87"/>
                </a:solidFill>
                <a:latin typeface="Arial"/>
                <a:cs typeface="Arial"/>
              </a:rPr>
              <a:t>sunulmu�tur.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2253" y="5055823"/>
            <a:ext cx="975313" cy="5512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30490" y="5150323"/>
            <a:ext cx="1462970" cy="645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82231" y="5024323"/>
            <a:ext cx="1321393" cy="566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28404" y="5055823"/>
            <a:ext cx="1132622" cy="5512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23954" y="4882573"/>
            <a:ext cx="4184410" cy="9134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787021" y="5166072"/>
            <a:ext cx="723619" cy="42524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9422786" y="4417947"/>
            <a:ext cx="1274445" cy="0"/>
          </a:xfrm>
          <a:custGeom>
            <a:avLst/>
            <a:gdLst/>
            <a:ahLst/>
            <a:cxnLst/>
            <a:rect l="l" t="t" r="r" b="b"/>
            <a:pathLst>
              <a:path w="1274445" h="0">
                <a:moveTo>
                  <a:pt x="0" y="0"/>
                </a:moveTo>
                <a:lnTo>
                  <a:pt x="1274199" y="0"/>
                </a:lnTo>
              </a:path>
            </a:pathLst>
          </a:custGeom>
          <a:ln w="629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117187" y="5003747"/>
            <a:ext cx="9880600" cy="193865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2404745">
              <a:lnSpc>
                <a:spcPct val="100000"/>
              </a:lnSpc>
              <a:spcBef>
                <a:spcPts val="115"/>
              </a:spcBef>
            </a:pPr>
            <a:r>
              <a:rPr dirty="0" sz="4450" spc="-25" b="1">
                <a:solidFill>
                  <a:srgbClr val="0E1626"/>
                </a:solidFill>
                <a:latin typeface="Arial"/>
                <a:cs typeface="Arial"/>
              </a:rPr>
              <a:t>ave</a:t>
            </a:r>
            <a:endParaRPr sz="4450">
              <a:latin typeface="Arial"/>
              <a:cs typeface="Arial"/>
            </a:endParaRPr>
          </a:p>
          <a:p>
            <a:pPr marL="3544570" marR="5080" indent="-3532504">
              <a:lnSpc>
                <a:spcPct val="132900"/>
              </a:lnSpc>
              <a:spcBef>
                <a:spcPts val="3000"/>
              </a:spcBef>
            </a:pPr>
            <a:r>
              <a:rPr dirty="0" sz="2100">
                <a:solidFill>
                  <a:srgbClr val="4B5262"/>
                </a:solidFill>
                <a:latin typeface="Arial"/>
                <a:cs typeface="Arial"/>
              </a:rPr>
              <a:t>Termodinamik</a:t>
            </a:r>
            <a:r>
              <a:rPr dirty="0" sz="2100" spc="175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00" spc="-25">
                <a:solidFill>
                  <a:srgbClr val="4B5262"/>
                </a:solidFill>
                <a:latin typeface="Arial"/>
                <a:cs typeface="Arial"/>
              </a:rPr>
              <a:t>simOlasyon</a:t>
            </a:r>
            <a:r>
              <a:rPr dirty="0" sz="2100" spc="-35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00" spc="85">
                <a:solidFill>
                  <a:srgbClr val="4B5262"/>
                </a:solidFill>
                <a:latin typeface="Arial"/>
                <a:cs typeface="Arial"/>
              </a:rPr>
              <a:t>verilerinin</a:t>
            </a:r>
            <a:r>
              <a:rPr dirty="0" sz="2100" spc="-15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00" spc="80">
                <a:solidFill>
                  <a:srgbClr val="4B5262"/>
                </a:solidFill>
                <a:latin typeface="Arial"/>
                <a:cs typeface="Arial"/>
              </a:rPr>
              <a:t>egitilmesiyle</a:t>
            </a:r>
            <a:r>
              <a:rPr dirty="0" sz="2100" spc="-215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00" spc="55">
                <a:solidFill>
                  <a:srgbClr val="4B5262"/>
                </a:solidFill>
                <a:latin typeface="Arial"/>
                <a:cs typeface="Arial"/>
              </a:rPr>
              <a:t>geli�tirilen</a:t>
            </a:r>
            <a:r>
              <a:rPr dirty="0" sz="2100" spc="-85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00" spc="-75">
                <a:solidFill>
                  <a:srgbClr val="4B5262"/>
                </a:solidFill>
                <a:latin typeface="Arial"/>
                <a:cs typeface="Arial"/>
              </a:rPr>
              <a:t>yOksek</a:t>
            </a:r>
            <a:r>
              <a:rPr dirty="0" sz="2100" spc="-5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4B5262"/>
                </a:solidFill>
                <a:latin typeface="Arial"/>
                <a:cs typeface="Arial"/>
              </a:rPr>
              <a:t>dogruluklu </a:t>
            </a:r>
            <a:r>
              <a:rPr dirty="0" sz="2100">
                <a:solidFill>
                  <a:srgbClr val="4B5262"/>
                </a:solidFill>
                <a:latin typeface="Arial"/>
                <a:cs typeface="Arial"/>
              </a:rPr>
              <a:t>COP</a:t>
            </a:r>
            <a:r>
              <a:rPr dirty="0" sz="2100" spc="-229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00" spc="100">
                <a:solidFill>
                  <a:srgbClr val="4B5262"/>
                </a:solidFill>
                <a:latin typeface="Arial"/>
                <a:cs typeface="Arial"/>
              </a:rPr>
              <a:t>tahmin</a:t>
            </a:r>
            <a:r>
              <a:rPr dirty="0" sz="2100" spc="-165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00" spc="45">
                <a:solidFill>
                  <a:srgbClr val="4B5262"/>
                </a:solidFill>
                <a:latin typeface="Arial"/>
                <a:cs typeface="Arial"/>
              </a:rPr>
              <a:t>modelleri.</a:t>
            </a:r>
            <a:endParaRPr sz="2100">
              <a:latin typeface="Arial"/>
              <a:cs typeface="Arial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419638" y="4672999"/>
            <a:ext cx="243840" cy="7061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90" b="0">
                <a:solidFill>
                  <a:srgbClr val="0E1626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534876" y="5003747"/>
            <a:ext cx="1064895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215" b="1">
                <a:solidFill>
                  <a:srgbClr val="0E1626"/>
                </a:solidFill>
                <a:latin typeface="Arial"/>
                <a:cs typeface="Arial"/>
              </a:rPr>
              <a:t>es1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121" y="5496822"/>
            <a:ext cx="235963" cy="2992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50910" y="3307579"/>
            <a:ext cx="8762097" cy="595348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75313" y="724581"/>
            <a:ext cx="0" cy="819150"/>
          </a:xfrm>
          <a:custGeom>
            <a:avLst/>
            <a:gdLst/>
            <a:ahLst/>
            <a:cxnLst/>
            <a:rect l="l" t="t" r="r" b="b"/>
            <a:pathLst>
              <a:path w="0" h="819150">
                <a:moveTo>
                  <a:pt x="0" y="818997"/>
                </a:moveTo>
                <a:lnTo>
                  <a:pt x="0" y="0"/>
                </a:lnTo>
              </a:path>
            </a:pathLst>
          </a:custGeom>
          <a:ln w="786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175920" y="3307575"/>
            <a:ext cx="0" cy="5922010"/>
          </a:xfrm>
          <a:custGeom>
            <a:avLst/>
            <a:gdLst/>
            <a:ahLst/>
            <a:cxnLst/>
            <a:rect l="l" t="t" r="r" b="b"/>
            <a:pathLst>
              <a:path w="0" h="5922009">
                <a:moveTo>
                  <a:pt x="0" y="5921985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476754" y="3276075"/>
            <a:ext cx="8636635" cy="0"/>
          </a:xfrm>
          <a:custGeom>
            <a:avLst/>
            <a:gdLst/>
            <a:ahLst/>
            <a:cxnLst/>
            <a:rect l="l" t="t" r="r" b="b"/>
            <a:pathLst>
              <a:path w="8636635" h="0">
                <a:moveTo>
                  <a:pt x="0" y="0"/>
                </a:moveTo>
                <a:lnTo>
                  <a:pt x="8636243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8895">
              <a:lnSpc>
                <a:spcPct val="100000"/>
              </a:lnSpc>
              <a:spcBef>
                <a:spcPts val="95"/>
              </a:spcBef>
            </a:pPr>
            <a:r>
              <a:rPr dirty="0" sz="4250" spc="170">
                <a:solidFill>
                  <a:srgbClr val="0E1626"/>
                </a:solidFill>
              </a:rPr>
              <a:t>Vapay</a:t>
            </a:r>
            <a:r>
              <a:rPr dirty="0" sz="4250" spc="90">
                <a:solidFill>
                  <a:srgbClr val="0E1626"/>
                </a:solidFill>
              </a:rPr>
              <a:t> </a:t>
            </a:r>
            <a:r>
              <a:rPr dirty="0" sz="4250" spc="65">
                <a:solidFill>
                  <a:srgbClr val="0E1626"/>
                </a:solidFill>
              </a:rPr>
              <a:t>Zeka</a:t>
            </a:r>
            <a:r>
              <a:rPr dirty="0" sz="4250" spc="55">
                <a:solidFill>
                  <a:srgbClr val="0E1626"/>
                </a:solidFill>
              </a:rPr>
              <a:t> </a:t>
            </a:r>
            <a:r>
              <a:rPr dirty="0" sz="4250" spc="145">
                <a:solidFill>
                  <a:srgbClr val="0E1626"/>
                </a:solidFill>
              </a:rPr>
              <a:t>Tahmin</a:t>
            </a:r>
            <a:r>
              <a:rPr dirty="0" sz="4250" spc="-70">
                <a:solidFill>
                  <a:srgbClr val="0E1626"/>
                </a:solidFill>
              </a:rPr>
              <a:t> </a:t>
            </a:r>
            <a:r>
              <a:rPr dirty="0" sz="4250" spc="-310">
                <a:solidFill>
                  <a:srgbClr val="0E1626"/>
                </a:solidFill>
              </a:rPr>
              <a:t>Sonu�lar1</a:t>
            </a:r>
            <a:endParaRPr sz="4250"/>
          </a:p>
        </p:txBody>
      </p:sp>
      <p:sp>
        <p:nvSpPr>
          <p:cNvPr id="8" name="object 8"/>
          <p:cNvSpPr txBox="1"/>
          <p:nvPr/>
        </p:nvSpPr>
        <p:spPr>
          <a:xfrm>
            <a:off x="835699" y="4424936"/>
            <a:ext cx="8843010" cy="3411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57860" marR="81280" indent="-582295">
              <a:lnSpc>
                <a:spcPct val="121400"/>
              </a:lnSpc>
              <a:spcBef>
                <a:spcPts val="95"/>
              </a:spcBef>
              <a:tabLst>
                <a:tab pos="653415" algn="l"/>
              </a:tabLst>
            </a:pPr>
            <a:r>
              <a:rPr dirty="0" sz="2000" spc="-25">
                <a:solidFill>
                  <a:srgbClr val="0FA3E2"/>
                </a:solidFill>
                <a:latin typeface="Arial"/>
                <a:cs typeface="Arial"/>
              </a:rPr>
              <a:t>��</a:t>
            </a:r>
            <a:r>
              <a:rPr dirty="0" sz="2000">
                <a:solidFill>
                  <a:srgbClr val="0FA3E2"/>
                </a:solidFill>
                <a:latin typeface="Arial"/>
                <a:cs typeface="Arial"/>
              </a:rPr>
              <a:t>	</a:t>
            </a:r>
            <a:r>
              <a:rPr dirty="0" sz="2000" spc="-55">
                <a:solidFill>
                  <a:srgbClr val="525964"/>
                </a:solidFill>
                <a:latin typeface="Arial"/>
                <a:cs typeface="Arial"/>
              </a:rPr>
              <a:t>COP</a:t>
            </a:r>
            <a:r>
              <a:rPr dirty="0" sz="2000" spc="-160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25964"/>
                </a:solidFill>
                <a:latin typeface="Arial"/>
                <a:cs typeface="Arial"/>
              </a:rPr>
              <a:t>tahmini</a:t>
            </a:r>
            <a:r>
              <a:rPr dirty="0" sz="2000" spc="-175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 spc="-125">
                <a:solidFill>
                  <a:srgbClr val="3A5674"/>
                </a:solidFill>
                <a:latin typeface="Arial"/>
                <a:cs typeface="Arial"/>
              </a:rPr>
              <a:t>ic;in</a:t>
            </a:r>
            <a:r>
              <a:rPr dirty="0" sz="2000" spc="-120">
                <a:solidFill>
                  <a:srgbClr val="3A567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25964"/>
                </a:solidFill>
                <a:latin typeface="Arial"/>
                <a:cs typeface="Arial"/>
              </a:rPr>
              <a:t>egitilen</a:t>
            </a:r>
            <a:r>
              <a:rPr dirty="0" sz="2000" spc="-135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 spc="-114" b="1">
                <a:solidFill>
                  <a:srgbClr val="1F2434"/>
                </a:solidFill>
                <a:latin typeface="Arial"/>
                <a:cs typeface="Arial"/>
              </a:rPr>
              <a:t>XGBoost</a:t>
            </a:r>
            <a:r>
              <a:rPr dirty="0" sz="2000" spc="-60" b="1">
                <a:solidFill>
                  <a:srgbClr val="1F2434"/>
                </a:solidFill>
                <a:latin typeface="Arial"/>
                <a:cs typeface="Arial"/>
              </a:rPr>
              <a:t> </a:t>
            </a:r>
            <a:r>
              <a:rPr dirty="0" sz="2000" spc="-90" b="1">
                <a:solidFill>
                  <a:srgbClr val="525964"/>
                </a:solidFill>
                <a:latin typeface="Arial"/>
                <a:cs typeface="Arial"/>
              </a:rPr>
              <a:t>ve</a:t>
            </a:r>
            <a:r>
              <a:rPr dirty="0" sz="2000" spc="-350" b="1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1F2434"/>
                </a:solidFill>
                <a:latin typeface="Arial"/>
                <a:cs typeface="Arial"/>
              </a:rPr>
              <a:t>Gradient</a:t>
            </a:r>
            <a:r>
              <a:rPr dirty="0" sz="2000" spc="-90" b="1">
                <a:solidFill>
                  <a:srgbClr val="1F2434"/>
                </a:solidFill>
                <a:latin typeface="Arial"/>
                <a:cs typeface="Arial"/>
              </a:rPr>
              <a:t> </a:t>
            </a:r>
            <a:r>
              <a:rPr dirty="0" sz="2000" spc="-130" b="1">
                <a:solidFill>
                  <a:srgbClr val="1F2434"/>
                </a:solidFill>
                <a:latin typeface="Arial"/>
                <a:cs typeface="Arial"/>
              </a:rPr>
              <a:t>Boost </a:t>
            </a:r>
            <a:r>
              <a:rPr dirty="0" sz="2000" spc="-30">
                <a:solidFill>
                  <a:srgbClr val="525964"/>
                </a:solidFill>
                <a:latin typeface="Arial"/>
                <a:cs typeface="Arial"/>
              </a:rPr>
              <a:t>modelleri</a:t>
            </a:r>
            <a:r>
              <a:rPr dirty="0" sz="2000" spc="-90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25964"/>
                </a:solidFill>
                <a:latin typeface="Arial"/>
                <a:cs typeface="Arial"/>
              </a:rPr>
              <a:t>mukemmel </a:t>
            </a:r>
            <a:r>
              <a:rPr dirty="0" sz="2000">
                <a:solidFill>
                  <a:srgbClr val="525964"/>
                </a:solidFill>
                <a:latin typeface="Arial"/>
                <a:cs typeface="Arial"/>
              </a:rPr>
              <a:t>dogruluk</a:t>
            </a:r>
            <a:r>
              <a:rPr dirty="0" sz="2000" spc="-140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 spc="-35">
                <a:solidFill>
                  <a:srgbClr val="525964"/>
                </a:solidFill>
                <a:latin typeface="Arial"/>
                <a:cs typeface="Arial"/>
              </a:rPr>
              <a:t>(R</a:t>
            </a:r>
            <a:r>
              <a:rPr dirty="0" baseline="44973" sz="1575" spc="-52">
                <a:solidFill>
                  <a:srgbClr val="525964"/>
                </a:solidFill>
                <a:latin typeface="Arial"/>
                <a:cs typeface="Arial"/>
              </a:rPr>
              <a:t>2</a:t>
            </a:r>
            <a:r>
              <a:rPr dirty="0" baseline="44973" sz="1575" spc="22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525964"/>
                </a:solidFill>
                <a:latin typeface="Arial"/>
                <a:cs typeface="Arial"/>
              </a:rPr>
              <a:t>=</a:t>
            </a:r>
            <a:r>
              <a:rPr dirty="0" sz="1700" spc="-50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525964"/>
                </a:solidFill>
                <a:latin typeface="Arial"/>
                <a:cs typeface="Arial"/>
              </a:rPr>
              <a:t>1.0000)</a:t>
            </a:r>
            <a:r>
              <a:rPr dirty="0" sz="2000" spc="-75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25964"/>
                </a:solidFill>
                <a:latin typeface="Arial"/>
                <a:cs typeface="Arial"/>
              </a:rPr>
              <a:t>sergilemi�tir</a:t>
            </a:r>
            <a:r>
              <a:rPr dirty="0" sz="2000" spc="-10">
                <a:solidFill>
                  <a:srgbClr val="3A3D41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654050" marR="895985" indent="635">
              <a:lnSpc>
                <a:spcPct val="124000"/>
              </a:lnSpc>
              <a:spcBef>
                <a:spcPts val="1860"/>
              </a:spcBef>
            </a:pPr>
            <a:r>
              <a:rPr dirty="0" sz="2000" spc="-160" b="1">
                <a:solidFill>
                  <a:srgbClr val="1F2434"/>
                </a:solidFill>
                <a:latin typeface="Arial"/>
                <a:cs typeface="Arial"/>
              </a:rPr>
              <a:t>Random</a:t>
            </a:r>
            <a:r>
              <a:rPr dirty="0" sz="2000" spc="-114" b="1">
                <a:solidFill>
                  <a:srgbClr val="1F2434"/>
                </a:solidFill>
                <a:latin typeface="Arial"/>
                <a:cs typeface="Arial"/>
              </a:rPr>
              <a:t> </a:t>
            </a:r>
            <a:r>
              <a:rPr dirty="0" sz="2000" spc="-90" b="1">
                <a:solidFill>
                  <a:srgbClr val="1F2434"/>
                </a:solidFill>
                <a:latin typeface="Arial"/>
                <a:cs typeface="Arial"/>
              </a:rPr>
              <a:t>Forest</a:t>
            </a:r>
            <a:r>
              <a:rPr dirty="0" sz="2000" spc="-145" b="1">
                <a:solidFill>
                  <a:srgbClr val="1F2434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525964"/>
                </a:solidFill>
                <a:latin typeface="Arial"/>
                <a:cs typeface="Arial"/>
              </a:rPr>
              <a:t>modeli</a:t>
            </a:r>
            <a:r>
              <a:rPr dirty="0" sz="2000" spc="-114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3A5674"/>
                </a:solidFill>
                <a:latin typeface="Arial"/>
                <a:cs typeface="Arial"/>
              </a:rPr>
              <a:t>ise</a:t>
            </a:r>
            <a:r>
              <a:rPr dirty="0" sz="2000" spc="-315">
                <a:solidFill>
                  <a:srgbClr val="3A5674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525964"/>
                </a:solidFill>
                <a:latin typeface="Arial"/>
                <a:cs typeface="Arial"/>
              </a:rPr>
              <a:t>minimal</a:t>
            </a:r>
            <a:r>
              <a:rPr dirty="0" sz="2000" spc="-40">
                <a:solidFill>
                  <a:srgbClr val="525964"/>
                </a:solidFill>
                <a:latin typeface="Arial"/>
                <a:cs typeface="Arial"/>
              </a:rPr>
              <a:t> hata</a:t>
            </a:r>
            <a:r>
              <a:rPr dirty="0" sz="2000" spc="-80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25964"/>
                </a:solidFill>
                <a:latin typeface="Arial"/>
                <a:cs typeface="Arial"/>
              </a:rPr>
              <a:t>(MAE=</a:t>
            </a:r>
            <a:r>
              <a:rPr dirty="0" sz="2000" spc="-175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525964"/>
                </a:solidFill>
                <a:latin typeface="Arial"/>
                <a:cs typeface="Arial"/>
              </a:rPr>
              <a:t>0.0099)</a:t>
            </a:r>
            <a:r>
              <a:rPr dirty="0" sz="2000" spc="-25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 spc="50">
                <a:solidFill>
                  <a:srgbClr val="3A5674"/>
                </a:solidFill>
                <a:latin typeface="Arial"/>
                <a:cs typeface="Arial"/>
              </a:rPr>
              <a:t>ile</a:t>
            </a:r>
            <a:r>
              <a:rPr dirty="0" sz="2000" spc="-345">
                <a:solidFill>
                  <a:srgbClr val="3A5674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25964"/>
                </a:solidFill>
                <a:latin typeface="Arial"/>
                <a:cs typeface="Arial"/>
              </a:rPr>
              <a:t>guvenilir </a:t>
            </a:r>
            <a:r>
              <a:rPr dirty="0" sz="2000">
                <a:solidFill>
                  <a:srgbClr val="525964"/>
                </a:solidFill>
                <a:latin typeface="Arial"/>
                <a:cs typeface="Arial"/>
              </a:rPr>
              <a:t>tahminler</a:t>
            </a:r>
            <a:r>
              <a:rPr dirty="0" sz="2000" spc="-135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525964"/>
                </a:solidFill>
                <a:latin typeface="Arial"/>
                <a:cs typeface="Arial"/>
              </a:rPr>
              <a:t>sunmaktad1r.</a:t>
            </a:r>
            <a:endParaRPr sz="2000">
              <a:latin typeface="Arial"/>
              <a:cs typeface="Arial"/>
            </a:endParaRPr>
          </a:p>
          <a:p>
            <a:pPr marL="657860" marR="815975" indent="-570230">
              <a:lnSpc>
                <a:spcPct val="121400"/>
              </a:lnSpc>
              <a:spcBef>
                <a:spcPts val="1985"/>
              </a:spcBef>
              <a:tabLst>
                <a:tab pos="652780" algn="l"/>
              </a:tabLst>
            </a:pPr>
            <a:r>
              <a:rPr dirty="0" sz="2000" spc="-25" b="1">
                <a:solidFill>
                  <a:srgbClr val="0FA3E2"/>
                </a:solidFill>
                <a:latin typeface="Arial"/>
                <a:cs typeface="Arial"/>
              </a:rPr>
              <a:t>G)</a:t>
            </a:r>
            <a:r>
              <a:rPr dirty="0" sz="2000" b="1">
                <a:solidFill>
                  <a:srgbClr val="0FA3E2"/>
                </a:solidFill>
                <a:latin typeface="Arial"/>
                <a:cs typeface="Arial"/>
              </a:rPr>
              <a:t>	</a:t>
            </a:r>
            <a:r>
              <a:rPr dirty="0" sz="2000" spc="-45">
                <a:solidFill>
                  <a:srgbClr val="525964"/>
                </a:solidFill>
                <a:latin typeface="Arial"/>
                <a:cs typeface="Arial"/>
              </a:rPr>
              <a:t>Geli�tirilen</a:t>
            </a:r>
            <a:r>
              <a:rPr dirty="0" sz="2000" spc="-80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25964"/>
                </a:solidFill>
                <a:latin typeface="Arial"/>
                <a:cs typeface="Arial"/>
              </a:rPr>
              <a:t>bu</a:t>
            </a:r>
            <a:r>
              <a:rPr dirty="0" sz="2000" spc="-220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525964"/>
                </a:solidFill>
                <a:latin typeface="Arial"/>
                <a:cs typeface="Arial"/>
              </a:rPr>
              <a:t>modeller,</a:t>
            </a:r>
            <a:r>
              <a:rPr dirty="0" sz="2000" spc="-125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 spc="-215">
                <a:solidFill>
                  <a:srgbClr val="525964"/>
                </a:solidFill>
                <a:latin typeface="Arial"/>
                <a:cs typeface="Arial"/>
              </a:rPr>
              <a:t>karma�1k</a:t>
            </a:r>
            <a:r>
              <a:rPr dirty="0" sz="2000" spc="-30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25964"/>
                </a:solidFill>
                <a:latin typeface="Arial"/>
                <a:cs typeface="Arial"/>
              </a:rPr>
              <a:t>termodinamik</a:t>
            </a:r>
            <a:r>
              <a:rPr dirty="0" sz="2000" spc="55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525964"/>
                </a:solidFill>
                <a:latin typeface="Arial"/>
                <a:cs typeface="Arial"/>
              </a:rPr>
              <a:t>denklemlere</a:t>
            </a:r>
            <a:r>
              <a:rPr dirty="0" sz="2000" spc="-114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 spc="-105">
                <a:solidFill>
                  <a:srgbClr val="3A5674"/>
                </a:solidFill>
                <a:latin typeface="Arial"/>
                <a:cs typeface="Arial"/>
              </a:rPr>
              <a:t>ihtiyac</a:t>
            </a:r>
            <a:r>
              <a:rPr dirty="0" sz="2000" spc="-105">
                <a:solidFill>
                  <a:srgbClr val="3A5674"/>
                </a:solidFill>
                <a:latin typeface="Arial"/>
                <a:cs typeface="Arial"/>
              </a:rPr>
              <a:t>;</a:t>
            </a:r>
            <a:r>
              <a:rPr dirty="0" sz="2000" spc="-105">
                <a:solidFill>
                  <a:srgbClr val="3A5674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525964"/>
                </a:solidFill>
                <a:latin typeface="Arial"/>
                <a:cs typeface="Arial"/>
              </a:rPr>
              <a:t>duymadan</a:t>
            </a:r>
            <a:r>
              <a:rPr dirty="0" sz="2000" spc="-25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 spc="-35">
                <a:solidFill>
                  <a:srgbClr val="525964"/>
                </a:solidFill>
                <a:latin typeface="Arial"/>
                <a:cs typeface="Arial"/>
              </a:rPr>
              <a:t>milisaniyeler</a:t>
            </a:r>
            <a:r>
              <a:rPr dirty="0" sz="2000" spc="25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525964"/>
                </a:solidFill>
                <a:latin typeface="Arial"/>
                <a:cs typeface="Arial"/>
              </a:rPr>
              <a:t>seviyesinde</a:t>
            </a:r>
            <a:r>
              <a:rPr dirty="0" sz="2000" spc="-160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525964"/>
                </a:solidFill>
                <a:latin typeface="Arial"/>
                <a:cs typeface="Arial"/>
              </a:rPr>
              <a:t>COP</a:t>
            </a:r>
            <a:r>
              <a:rPr dirty="0" sz="2000" spc="-160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25964"/>
                </a:solidFill>
                <a:latin typeface="Arial"/>
                <a:cs typeface="Arial"/>
              </a:rPr>
              <a:t>tahmini</a:t>
            </a:r>
            <a:r>
              <a:rPr dirty="0" sz="2000" spc="-135">
                <a:solidFill>
                  <a:srgbClr val="525964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25964"/>
                </a:solidFill>
                <a:latin typeface="Arial"/>
                <a:cs typeface="Arial"/>
              </a:rPr>
              <a:t>yapabilmektedir.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000">
              <a:latin typeface="Arial"/>
              <a:cs typeface="Arial"/>
            </a:endParaRPr>
          </a:p>
          <a:p>
            <a:pPr marL="113664">
              <a:lnSpc>
                <a:spcPct val="100000"/>
              </a:lnSpc>
              <a:spcBef>
                <a:spcPts val="5"/>
              </a:spcBef>
            </a:pPr>
            <a:r>
              <a:rPr dirty="0" sz="1650" i="1">
                <a:solidFill>
                  <a:srgbClr val="727B87"/>
                </a:solidFill>
                <a:latin typeface="Arial"/>
                <a:cs typeface="Arial"/>
              </a:rPr>
              <a:t>Regresyon</a:t>
            </a:r>
            <a:r>
              <a:rPr dirty="0" sz="1650" spc="45" i="1">
                <a:solidFill>
                  <a:srgbClr val="727B87"/>
                </a:solidFill>
                <a:latin typeface="Arial"/>
                <a:cs typeface="Arial"/>
              </a:rPr>
              <a:t> </a:t>
            </a:r>
            <a:r>
              <a:rPr dirty="0" sz="1650" spc="75" i="1">
                <a:solidFill>
                  <a:srgbClr val="727B87"/>
                </a:solidFill>
                <a:latin typeface="Arial"/>
                <a:cs typeface="Arial"/>
              </a:rPr>
              <a:t>dogrulugu</a:t>
            </a:r>
            <a:r>
              <a:rPr dirty="0" sz="1650" spc="60" i="1">
                <a:solidFill>
                  <a:srgbClr val="727B87"/>
                </a:solidFill>
                <a:latin typeface="Arial"/>
                <a:cs typeface="Arial"/>
              </a:rPr>
              <a:t> </a:t>
            </a:r>
            <a:r>
              <a:rPr dirty="0" sz="1650" spc="-10" i="1">
                <a:solidFill>
                  <a:srgbClr val="727B87"/>
                </a:solidFill>
                <a:latin typeface="Arial"/>
                <a:cs typeface="Arial"/>
              </a:rPr>
              <a:t>kar$tfa$ttrmas1</a:t>
            </a:r>
            <a:r>
              <a:rPr dirty="0" sz="1650" spc="-260" i="1">
                <a:solidFill>
                  <a:srgbClr val="727B87"/>
                </a:solidFill>
                <a:latin typeface="Arial"/>
                <a:cs typeface="Arial"/>
              </a:rPr>
              <a:t> </a:t>
            </a:r>
            <a:r>
              <a:rPr dirty="0" sz="1650" spc="-45" b="1" i="1">
                <a:solidFill>
                  <a:srgbClr val="727B87"/>
                </a:solidFill>
                <a:latin typeface="Arial"/>
                <a:cs typeface="Arial"/>
              </a:rPr>
              <a:t>ml_cop_results.png</a:t>
            </a:r>
            <a:r>
              <a:rPr dirty="0" sz="1650" spc="-254" b="1" i="1">
                <a:solidFill>
                  <a:srgbClr val="727B87"/>
                </a:solidFill>
                <a:latin typeface="Arial"/>
                <a:cs typeface="Arial"/>
              </a:rPr>
              <a:t> </a:t>
            </a:r>
            <a:r>
              <a:rPr dirty="0" sz="1650" spc="55" i="1">
                <a:solidFill>
                  <a:srgbClr val="727B87"/>
                </a:solidFill>
                <a:latin typeface="Arial"/>
                <a:cs typeface="Arial"/>
              </a:rPr>
              <a:t>ilzerinde</a:t>
            </a:r>
            <a:r>
              <a:rPr dirty="0" sz="1650" spc="-290" i="1">
                <a:solidFill>
                  <a:srgbClr val="727B87"/>
                </a:solidFill>
                <a:latin typeface="Arial"/>
                <a:cs typeface="Arial"/>
              </a:rPr>
              <a:t> </a:t>
            </a:r>
            <a:r>
              <a:rPr dirty="0" sz="1650" spc="55" i="1">
                <a:solidFill>
                  <a:srgbClr val="727B87"/>
                </a:solidFill>
                <a:latin typeface="Arial"/>
                <a:cs typeface="Arial"/>
              </a:rPr>
              <a:t>g6sterilmi$tir.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083" y="6772568"/>
            <a:ext cx="1101161" cy="2204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75313" y="724581"/>
            <a:ext cx="0" cy="819150"/>
          </a:xfrm>
          <a:custGeom>
            <a:avLst/>
            <a:gdLst/>
            <a:ahLst/>
            <a:cxnLst/>
            <a:rect l="l" t="t" r="r" b="b"/>
            <a:pathLst>
              <a:path w="0" h="819150">
                <a:moveTo>
                  <a:pt x="0" y="818997"/>
                </a:moveTo>
                <a:lnTo>
                  <a:pt x="0" y="0"/>
                </a:lnTo>
              </a:path>
            </a:pathLst>
          </a:custGeom>
          <a:ln w="786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pc="80"/>
              <a:t>Termod</a:t>
            </a:r>
            <a:r>
              <a:rPr dirty="0" spc="-894"/>
              <a:t>1</a:t>
            </a:r>
            <a:r>
              <a:rPr dirty="0" baseline="46626" sz="4200" spc="-30" b="0">
                <a:latin typeface="Arial"/>
                <a:cs typeface="Arial"/>
              </a:rPr>
              <a:t>•</a:t>
            </a:r>
            <a:r>
              <a:rPr dirty="0" sz="4050" spc="80"/>
              <a:t>nam</a:t>
            </a:r>
            <a:r>
              <a:rPr dirty="0" sz="4050" spc="-610"/>
              <a:t>1</a:t>
            </a:r>
            <a:r>
              <a:rPr dirty="0" baseline="51198" sz="3825" spc="-284" b="0">
                <a:latin typeface="Arial"/>
                <a:cs typeface="Arial"/>
              </a:rPr>
              <a:t>•</a:t>
            </a:r>
            <a:r>
              <a:rPr dirty="0" sz="4050" spc="85"/>
              <a:t>k</a:t>
            </a:r>
            <a:r>
              <a:rPr dirty="0" sz="4050" spc="135"/>
              <a:t> </a:t>
            </a:r>
            <a:r>
              <a:rPr dirty="0" sz="4050" spc="-2220"/>
              <a:t>O</a:t>
            </a:r>
            <a:r>
              <a:rPr dirty="0" baseline="62169" sz="3150" spc="97" b="0">
                <a:latin typeface="Arial"/>
                <a:cs typeface="Arial"/>
              </a:rPr>
              <a:t>•</a:t>
            </a:r>
            <a:r>
              <a:rPr dirty="0" baseline="62169" sz="3150" spc="104" b="0">
                <a:latin typeface="Arial"/>
                <a:cs typeface="Arial"/>
              </a:rPr>
              <a:t>•</a:t>
            </a:r>
            <a:r>
              <a:rPr dirty="0" baseline="62169" sz="3150" spc="315" b="0">
                <a:latin typeface="Arial"/>
                <a:cs typeface="Arial"/>
              </a:rPr>
              <a:t> </a:t>
            </a:r>
            <a:r>
              <a:rPr dirty="0" sz="4050" spc="130"/>
              <a:t>zet</a:t>
            </a:r>
            <a:r>
              <a:rPr dirty="0" sz="4050" spc="-200"/>
              <a:t> </a:t>
            </a:r>
            <a:r>
              <a:rPr dirty="0" sz="4050" spc="-10"/>
              <a:t>Kar§1la§t1rma</a:t>
            </a:r>
            <a:endParaRPr sz="4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640201" y="4078643"/>
            <a:ext cx="1242060" cy="321945"/>
          </a:xfrm>
          <a:custGeom>
            <a:avLst/>
            <a:gdLst/>
            <a:ahLst/>
            <a:cxnLst/>
            <a:rect l="l" t="t" r="r" b="b"/>
            <a:pathLst>
              <a:path w="1242059" h="321945">
                <a:moveTo>
                  <a:pt x="1241597" y="321422"/>
                </a:moveTo>
                <a:lnTo>
                  <a:pt x="0" y="321422"/>
                </a:lnTo>
                <a:lnTo>
                  <a:pt x="0" y="0"/>
                </a:lnTo>
                <a:lnTo>
                  <a:pt x="1241597" y="0"/>
                </a:lnTo>
                <a:lnTo>
                  <a:pt x="1241597" y="321422"/>
                </a:lnTo>
                <a:close/>
              </a:path>
            </a:pathLst>
          </a:custGeom>
          <a:solidFill>
            <a:srgbClr val="0F16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943631" y="4078643"/>
            <a:ext cx="2588895" cy="321945"/>
          </a:xfrm>
          <a:custGeom>
            <a:avLst/>
            <a:gdLst/>
            <a:ahLst/>
            <a:cxnLst/>
            <a:rect l="l" t="t" r="r" b="b"/>
            <a:pathLst>
              <a:path w="2588894" h="321945">
                <a:moveTo>
                  <a:pt x="2588867" y="321422"/>
                </a:moveTo>
                <a:lnTo>
                  <a:pt x="0" y="321422"/>
                </a:lnTo>
                <a:lnTo>
                  <a:pt x="0" y="0"/>
                </a:lnTo>
                <a:lnTo>
                  <a:pt x="2588867" y="0"/>
                </a:lnTo>
                <a:lnTo>
                  <a:pt x="2588867" y="321422"/>
                </a:lnTo>
                <a:close/>
              </a:path>
            </a:pathLst>
          </a:custGeom>
          <a:solidFill>
            <a:srgbClr val="0F162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156238" y="4078643"/>
          <a:ext cx="16527145" cy="35896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2770"/>
                <a:gridCol w="1254759"/>
                <a:gridCol w="734060"/>
                <a:gridCol w="853439"/>
                <a:gridCol w="2032000"/>
                <a:gridCol w="1334770"/>
                <a:gridCol w="1409065"/>
                <a:gridCol w="1097279"/>
                <a:gridCol w="2303779"/>
                <a:gridCol w="3589654"/>
              </a:tblGrid>
              <a:tr h="321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50" spc="-95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Sogutucu</a:t>
                      </a:r>
                      <a:r>
                        <a:rPr dirty="0" sz="1750" spc="35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204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Ak1�kan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4604"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50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COP[-</a:t>
                      </a:r>
                      <a:r>
                        <a:rPr dirty="0" sz="1750" spc="-50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]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4604"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50" spc="-75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Ekserji</a:t>
                      </a:r>
                      <a:r>
                        <a:rPr dirty="0" sz="1750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40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Verimi</a:t>
                      </a:r>
                      <a:r>
                        <a:rPr dirty="0" sz="1750" spc="-75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95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(11_ex)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4604"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50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GWP</a:t>
                      </a:r>
                      <a:r>
                        <a:rPr dirty="0" sz="1750" spc="-80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(100</a:t>
                      </a:r>
                      <a:r>
                        <a:rPr dirty="0" sz="1750" spc="-114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45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Vil)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4604"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50" spc="-140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Bas1nt</a:t>
                      </a:r>
                      <a:r>
                        <a:rPr dirty="0" sz="1750" spc="-90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Oran1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50" spc="-55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Optimum</a:t>
                      </a:r>
                      <a:r>
                        <a:rPr dirty="0" sz="1750" spc="-100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225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&lt;;al1�ma</a:t>
                      </a:r>
                      <a:r>
                        <a:rPr dirty="0" sz="1750" spc="-25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" b="1">
                          <a:solidFill>
                            <a:srgbClr val="F6F9F6"/>
                          </a:solidFill>
                          <a:latin typeface="Arial"/>
                          <a:cs typeface="Arial"/>
                        </a:rPr>
                        <a:t>Noktas1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4604"/>
                </a:tc>
              </a:tr>
              <a:tr h="825500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750" spc="-50" b="1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R134a</a:t>
                      </a:r>
                      <a:r>
                        <a:rPr dirty="0" sz="1750" spc="-100" b="1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20" b="1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(HFC)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908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1430" marR="21590">
                        <a:lnSpc>
                          <a:spcPct val="100000"/>
                        </a:lnSpc>
                      </a:pPr>
                      <a:r>
                        <a:rPr dirty="0" sz="1750" spc="-1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2.280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066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4604" marR="12065">
                        <a:lnSpc>
                          <a:spcPct val="100000"/>
                        </a:lnSpc>
                      </a:pPr>
                      <a:r>
                        <a:rPr dirty="0" sz="1750" spc="-1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91.2%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9906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9525" marR="12065">
                        <a:lnSpc>
                          <a:spcPct val="100000"/>
                        </a:lnSpc>
                      </a:pPr>
                      <a:r>
                        <a:rPr dirty="0" sz="1750" spc="-2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1370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066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750" spc="-2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4.42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908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44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750" spc="-11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Tev=</a:t>
                      </a:r>
                      <a:r>
                        <a:rPr dirty="0" sz="1750" spc="-7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6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S°C,</a:t>
                      </a:r>
                      <a:r>
                        <a:rPr dirty="0" sz="1750" spc="-22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4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Tcond=</a:t>
                      </a:r>
                      <a:r>
                        <a:rPr dirty="0" sz="1750" spc="-2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30°C</a:t>
                      </a:r>
                      <a:r>
                        <a:rPr dirty="0" sz="1750" spc="-9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50">
                          <a:solidFill>
                            <a:srgbClr val="676B77"/>
                          </a:solidFill>
                          <a:latin typeface="Arial"/>
                          <a:cs typeface="Arial"/>
                        </a:rPr>
                        <a:t>(COP=S.18S)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90805"/>
                </a:tc>
              </a:tr>
              <a:tr h="661035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50" spc="-10" b="1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R290</a:t>
                      </a:r>
                      <a:r>
                        <a:rPr dirty="0" sz="1750" spc="-195" b="1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" b="1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(Propan)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22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430" marR="2159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50" spc="-1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2.242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22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985" marR="1206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50" spc="-1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89.8%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22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065" marR="12065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1750" spc="-2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20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986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1750" spc="-2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3.SS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9865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50" spc="-11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Tev=</a:t>
                      </a:r>
                      <a:r>
                        <a:rPr dirty="0" sz="1750" spc="-7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6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S°C,</a:t>
                      </a:r>
                      <a:r>
                        <a:rPr dirty="0" sz="1750" spc="-22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4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Tcond=</a:t>
                      </a:r>
                      <a:r>
                        <a:rPr dirty="0" sz="1750" spc="-2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30°C</a:t>
                      </a:r>
                      <a:r>
                        <a:rPr dirty="0" sz="1750" spc="-9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35">
                          <a:solidFill>
                            <a:srgbClr val="676B77"/>
                          </a:solidFill>
                          <a:latin typeface="Arial"/>
                          <a:cs typeface="Arial"/>
                        </a:rPr>
                        <a:t>(COP=S.117)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2245"/>
                </a:tc>
              </a:tr>
              <a:tr h="661035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50" spc="-30" b="1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R1234yf</a:t>
                      </a:r>
                      <a:r>
                        <a:rPr dirty="0" sz="1750" spc="-75" b="1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20" b="1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(HFO)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22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430" marR="2159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50" spc="-1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2.183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22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985" marR="1206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50" spc="-1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87.S%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22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" marR="1206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50" spc="-5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22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1750" spc="-2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4.0S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9865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50" spc="-11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Tev=</a:t>
                      </a:r>
                      <a:r>
                        <a:rPr dirty="0" sz="1750" spc="-7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6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S°C,</a:t>
                      </a:r>
                      <a:r>
                        <a:rPr dirty="0" sz="1750" spc="-22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4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Tcond=</a:t>
                      </a:r>
                      <a:r>
                        <a:rPr dirty="0" sz="1750" spc="-2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30°C</a:t>
                      </a:r>
                      <a:r>
                        <a:rPr dirty="0" sz="1750" spc="-9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3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(COP=S.161)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2245"/>
                </a:tc>
              </a:tr>
              <a:tr h="661035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525" marR="2159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50" spc="-1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1.300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22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15" marR="1206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50" spc="-1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S4.6%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22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525" marR="12065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1750" spc="-5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986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50" spc="-2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3.16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2245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50" spc="-11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Tev=</a:t>
                      </a:r>
                      <a:r>
                        <a:rPr dirty="0" sz="1750" spc="-7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6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S°C,</a:t>
                      </a:r>
                      <a:r>
                        <a:rPr dirty="0" sz="1750" spc="-22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4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Tcond=</a:t>
                      </a:r>
                      <a:r>
                        <a:rPr dirty="0" sz="1750" spc="-2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30°C</a:t>
                      </a:r>
                      <a:r>
                        <a:rPr dirty="0" sz="1750" spc="-9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">
                          <a:solidFill>
                            <a:srgbClr val="676B77"/>
                          </a:solidFill>
                          <a:latin typeface="Arial"/>
                          <a:cs typeface="Arial"/>
                        </a:rPr>
                        <a:t>(COP=3.772)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2245"/>
                </a:tc>
              </a:tr>
              <a:tr h="459740">
                <a:tc>
                  <a:txBody>
                    <a:bodyPr/>
                    <a:lstStyle/>
                    <a:p>
                      <a:pPr marR="3175">
                        <a:lnSpc>
                          <a:spcPts val="2085"/>
                        </a:lnSpc>
                        <a:spcBef>
                          <a:spcPts val="1435"/>
                        </a:spcBef>
                      </a:pPr>
                      <a:r>
                        <a:rPr dirty="0" sz="1750" spc="-50" b="1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R600a</a:t>
                      </a:r>
                      <a:r>
                        <a:rPr dirty="0" sz="1750" spc="-100" b="1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" b="1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(izobutan)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22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445" marR="21590">
                        <a:lnSpc>
                          <a:spcPts val="2025"/>
                        </a:lnSpc>
                        <a:spcBef>
                          <a:spcPts val="1495"/>
                        </a:spcBef>
                      </a:pPr>
                      <a:r>
                        <a:rPr dirty="0" sz="1750" spc="-10" b="1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2.340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986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890" marR="12065">
                        <a:lnSpc>
                          <a:spcPts val="2085"/>
                        </a:lnSpc>
                        <a:spcBef>
                          <a:spcPts val="1435"/>
                        </a:spcBef>
                      </a:pPr>
                      <a:r>
                        <a:rPr dirty="0" sz="1750" spc="-10" b="1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93.5%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22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065" marR="12065">
                        <a:lnSpc>
                          <a:spcPts val="2025"/>
                        </a:lnSpc>
                        <a:spcBef>
                          <a:spcPts val="1495"/>
                        </a:spcBef>
                      </a:pPr>
                      <a:r>
                        <a:rPr dirty="0" sz="1750" spc="-2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20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986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2025"/>
                        </a:lnSpc>
                        <a:spcBef>
                          <a:spcPts val="1495"/>
                        </a:spcBef>
                      </a:pPr>
                      <a:r>
                        <a:rPr dirty="0" sz="1750" spc="-2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4.29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9865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2085"/>
                        </a:lnSpc>
                        <a:spcBef>
                          <a:spcPts val="1435"/>
                        </a:spcBef>
                      </a:pPr>
                      <a:r>
                        <a:rPr dirty="0" sz="1750" spc="-11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Tev=</a:t>
                      </a:r>
                      <a:r>
                        <a:rPr dirty="0" sz="1750" spc="-7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6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S°C,</a:t>
                      </a:r>
                      <a:r>
                        <a:rPr dirty="0" sz="1750" spc="-22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4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Tcond=</a:t>
                      </a:r>
                      <a:r>
                        <a:rPr dirty="0" sz="1750" spc="-2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30°C</a:t>
                      </a:r>
                      <a:r>
                        <a:rPr dirty="0" sz="1750" spc="-9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35">
                          <a:solidFill>
                            <a:srgbClr val="505966"/>
                          </a:solidFill>
                          <a:latin typeface="Arial"/>
                          <a:cs typeface="Arial"/>
                        </a:rPr>
                        <a:t>(COP=S.289)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182245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40001" y="8122239"/>
            <a:ext cx="9651365" cy="262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i="1">
                <a:solidFill>
                  <a:srgbClr val="7C828C"/>
                </a:solidFill>
                <a:latin typeface="Arial"/>
                <a:cs typeface="Arial"/>
              </a:rPr>
              <a:t>*</a:t>
            </a:r>
            <a:r>
              <a:rPr dirty="0" sz="1550" spc="20" i="1">
                <a:solidFill>
                  <a:srgbClr val="7C828C"/>
                </a:solidFill>
                <a:latin typeface="Arial"/>
                <a:cs typeface="Arial"/>
              </a:rPr>
              <a:t> </a:t>
            </a:r>
            <a:r>
              <a:rPr dirty="0" sz="1550" spc="85" i="1">
                <a:solidFill>
                  <a:srgbClr val="7C828C"/>
                </a:solidFill>
                <a:latin typeface="Arial"/>
                <a:cs typeface="Arial"/>
              </a:rPr>
              <a:t>Not:</a:t>
            </a:r>
            <a:r>
              <a:rPr dirty="0" sz="1550" spc="-145" i="1">
                <a:solidFill>
                  <a:srgbClr val="7C828C"/>
                </a:solidFill>
                <a:latin typeface="Arial"/>
                <a:cs typeface="Arial"/>
              </a:rPr>
              <a:t> </a:t>
            </a:r>
            <a:r>
              <a:rPr dirty="0" sz="1550" spc="-20" i="1">
                <a:solidFill>
                  <a:srgbClr val="7C828C"/>
                </a:solidFill>
                <a:latin typeface="Arial"/>
                <a:cs typeface="Arial"/>
              </a:rPr>
              <a:t>Tablodaki</a:t>
            </a:r>
            <a:r>
              <a:rPr dirty="0" sz="1550" spc="10" i="1">
                <a:solidFill>
                  <a:srgbClr val="7C828C"/>
                </a:solidFill>
                <a:latin typeface="Arial"/>
                <a:cs typeface="Arial"/>
              </a:rPr>
              <a:t> </a:t>
            </a:r>
            <a:r>
              <a:rPr dirty="0" sz="1550" i="1">
                <a:solidFill>
                  <a:srgbClr val="7C828C"/>
                </a:solidFill>
                <a:latin typeface="Arial"/>
                <a:cs typeface="Arial"/>
              </a:rPr>
              <a:t>degerler</a:t>
            </a:r>
            <a:r>
              <a:rPr dirty="0" sz="1550" spc="30" i="1">
                <a:solidFill>
                  <a:srgbClr val="7C828C"/>
                </a:solidFill>
                <a:latin typeface="Arial"/>
                <a:cs typeface="Arial"/>
              </a:rPr>
              <a:t> </a:t>
            </a:r>
            <a:r>
              <a:rPr dirty="0" sz="1550" i="1">
                <a:solidFill>
                  <a:srgbClr val="676B77"/>
                </a:solidFill>
                <a:latin typeface="Arial"/>
                <a:cs typeface="Arial"/>
              </a:rPr>
              <a:t>Tev</a:t>
            </a:r>
            <a:r>
              <a:rPr dirty="0" sz="1550" spc="-10" i="1">
                <a:solidFill>
                  <a:srgbClr val="676B77"/>
                </a:solidFill>
                <a:latin typeface="Arial"/>
                <a:cs typeface="Arial"/>
              </a:rPr>
              <a:t> </a:t>
            </a:r>
            <a:r>
              <a:rPr dirty="0" sz="1550" i="1">
                <a:solidFill>
                  <a:srgbClr val="7C828C"/>
                </a:solidFill>
                <a:latin typeface="Arial"/>
                <a:cs typeface="Arial"/>
              </a:rPr>
              <a:t>=</a:t>
            </a:r>
            <a:r>
              <a:rPr dirty="0" sz="1550" spc="70" i="1">
                <a:solidFill>
                  <a:srgbClr val="7C828C"/>
                </a:solidFill>
                <a:latin typeface="Arial"/>
                <a:cs typeface="Arial"/>
              </a:rPr>
              <a:t> </a:t>
            </a:r>
            <a:r>
              <a:rPr dirty="0" sz="1550" spc="50" i="1">
                <a:solidFill>
                  <a:srgbClr val="7C828C"/>
                </a:solidFill>
                <a:latin typeface="Arial"/>
                <a:cs typeface="Arial"/>
              </a:rPr>
              <a:t>-</a:t>
            </a:r>
            <a:r>
              <a:rPr dirty="0" sz="1550" spc="90" i="1">
                <a:solidFill>
                  <a:srgbClr val="7C828C"/>
                </a:solidFill>
                <a:latin typeface="Arial"/>
                <a:cs typeface="Arial"/>
              </a:rPr>
              <a:t>3°C</a:t>
            </a:r>
            <a:r>
              <a:rPr dirty="0" sz="1550" spc="-170" i="1">
                <a:solidFill>
                  <a:srgbClr val="7C828C"/>
                </a:solidFill>
                <a:latin typeface="Arial"/>
                <a:cs typeface="Arial"/>
              </a:rPr>
              <a:t> </a:t>
            </a:r>
            <a:r>
              <a:rPr dirty="0" sz="1550" spc="85" i="1">
                <a:solidFill>
                  <a:srgbClr val="7C828C"/>
                </a:solidFill>
                <a:latin typeface="Arial"/>
                <a:cs typeface="Arial"/>
              </a:rPr>
              <a:t>ve</a:t>
            </a:r>
            <a:r>
              <a:rPr dirty="0" sz="1550" spc="-140" i="1">
                <a:solidFill>
                  <a:srgbClr val="7C828C"/>
                </a:solidFill>
                <a:latin typeface="Arial"/>
                <a:cs typeface="Arial"/>
              </a:rPr>
              <a:t> </a:t>
            </a:r>
            <a:r>
              <a:rPr dirty="0" sz="1550" spc="-30" i="1">
                <a:solidFill>
                  <a:srgbClr val="676B77"/>
                </a:solidFill>
                <a:latin typeface="Arial"/>
                <a:cs typeface="Arial"/>
              </a:rPr>
              <a:t>Tcond</a:t>
            </a:r>
            <a:r>
              <a:rPr dirty="0" sz="1550" spc="-90" i="1">
                <a:solidFill>
                  <a:srgbClr val="676B77"/>
                </a:solidFill>
                <a:latin typeface="Arial"/>
                <a:cs typeface="Arial"/>
              </a:rPr>
              <a:t> </a:t>
            </a:r>
            <a:r>
              <a:rPr dirty="0" sz="1550" i="1">
                <a:solidFill>
                  <a:srgbClr val="7C828C"/>
                </a:solidFill>
                <a:latin typeface="Arial"/>
                <a:cs typeface="Arial"/>
              </a:rPr>
              <a:t>=</a:t>
            </a:r>
            <a:r>
              <a:rPr dirty="0" sz="1550" spc="85" i="1">
                <a:solidFill>
                  <a:srgbClr val="7C828C"/>
                </a:solidFill>
                <a:latin typeface="Arial"/>
                <a:cs typeface="Arial"/>
              </a:rPr>
              <a:t> </a:t>
            </a:r>
            <a:r>
              <a:rPr dirty="0" sz="1550" spc="80" i="1">
                <a:solidFill>
                  <a:srgbClr val="7C828C"/>
                </a:solidFill>
                <a:latin typeface="Arial"/>
                <a:cs typeface="Arial"/>
              </a:rPr>
              <a:t>45°C</a:t>
            </a:r>
            <a:r>
              <a:rPr dirty="0" sz="1550" spc="-140" i="1">
                <a:solidFill>
                  <a:srgbClr val="7C828C"/>
                </a:solidFill>
                <a:latin typeface="Arial"/>
                <a:cs typeface="Arial"/>
              </a:rPr>
              <a:t> </a:t>
            </a:r>
            <a:r>
              <a:rPr dirty="0" sz="1550" i="1">
                <a:solidFill>
                  <a:srgbClr val="7C828C"/>
                </a:solidFill>
                <a:latin typeface="Arial"/>
                <a:cs typeface="Arial"/>
              </a:rPr>
              <a:t>nominal</a:t>
            </a:r>
            <a:r>
              <a:rPr dirty="0" sz="1550" spc="-35" i="1">
                <a:solidFill>
                  <a:srgbClr val="7C828C"/>
                </a:solidFill>
                <a:latin typeface="Arial"/>
                <a:cs typeface="Arial"/>
              </a:rPr>
              <a:t> </a:t>
            </a:r>
            <a:r>
              <a:rPr dirty="0" sz="1550" spc="-60" i="1">
                <a:solidFill>
                  <a:srgbClr val="7C828C"/>
                </a:solidFill>
                <a:latin typeface="Arial"/>
                <a:cs typeface="Arial"/>
              </a:rPr>
              <a:t>ral1$ma</a:t>
            </a:r>
            <a:r>
              <a:rPr dirty="0" sz="1550" spc="-10" i="1">
                <a:solidFill>
                  <a:srgbClr val="7C828C"/>
                </a:solidFill>
                <a:latin typeface="Arial"/>
                <a:cs typeface="Arial"/>
              </a:rPr>
              <a:t> </a:t>
            </a:r>
            <a:r>
              <a:rPr dirty="0" sz="1550" spc="-35" i="1">
                <a:solidFill>
                  <a:srgbClr val="7C828C"/>
                </a:solidFill>
                <a:latin typeface="Arial"/>
                <a:cs typeface="Arial"/>
              </a:rPr>
              <a:t>ko$ullar1</a:t>
            </a:r>
            <a:r>
              <a:rPr dirty="0" sz="1550" spc="-190" i="1">
                <a:solidFill>
                  <a:srgbClr val="7C828C"/>
                </a:solidFill>
                <a:latin typeface="Arial"/>
                <a:cs typeface="Arial"/>
              </a:rPr>
              <a:t> </a:t>
            </a:r>
            <a:r>
              <a:rPr dirty="0" sz="1550" i="1">
                <a:solidFill>
                  <a:srgbClr val="7C828C"/>
                </a:solidFill>
                <a:latin typeface="Arial"/>
                <a:cs typeface="Arial"/>
              </a:rPr>
              <a:t>baz</a:t>
            </a:r>
            <a:r>
              <a:rPr dirty="0" sz="1550" spc="-170" i="1">
                <a:solidFill>
                  <a:srgbClr val="7C828C"/>
                </a:solidFill>
                <a:latin typeface="Arial"/>
                <a:cs typeface="Arial"/>
              </a:rPr>
              <a:t> </a:t>
            </a:r>
            <a:r>
              <a:rPr dirty="0" sz="1550" i="1">
                <a:solidFill>
                  <a:srgbClr val="7C828C"/>
                </a:solidFill>
                <a:latin typeface="Arial"/>
                <a:cs typeface="Arial"/>
              </a:rPr>
              <a:t>al,narak</a:t>
            </a:r>
            <a:r>
              <a:rPr dirty="0" sz="1550" spc="80" i="1">
                <a:solidFill>
                  <a:srgbClr val="7C828C"/>
                </a:solidFill>
                <a:latin typeface="Arial"/>
                <a:cs typeface="Arial"/>
              </a:rPr>
              <a:t> </a:t>
            </a:r>
            <a:r>
              <a:rPr dirty="0" sz="1550" spc="-10" i="1">
                <a:solidFill>
                  <a:srgbClr val="7C828C"/>
                </a:solidFill>
                <a:latin typeface="Arial"/>
                <a:cs typeface="Arial"/>
              </a:rPr>
              <a:t>hesaplanm1$t1r.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91234" y="4504575"/>
            <a:ext cx="550580" cy="7559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20469" y="4662074"/>
            <a:ext cx="582042" cy="598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96898" y="4662074"/>
            <a:ext cx="346079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05899" y="4662074"/>
            <a:ext cx="566311" cy="5984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02557" y="4504575"/>
            <a:ext cx="755081" cy="7559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93603" y="4520324"/>
            <a:ext cx="707889" cy="74024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64415" y="4662074"/>
            <a:ext cx="1856242" cy="598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930776" y="4662074"/>
            <a:ext cx="613503" cy="85049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016297" y="5826684"/>
            <a:ext cx="8084820" cy="1287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25400">
              <a:lnSpc>
                <a:spcPct val="100000"/>
              </a:lnSpc>
              <a:spcBef>
                <a:spcPts val="110"/>
              </a:spcBef>
            </a:pPr>
            <a:r>
              <a:rPr dirty="0" sz="2500" spc="-320">
                <a:solidFill>
                  <a:srgbClr val="495262"/>
                </a:solidFill>
                <a:latin typeface="Arial"/>
                <a:cs typeface="Arial"/>
              </a:rPr>
              <a:t>Kat1l1m1n1z</a:t>
            </a:r>
            <a:r>
              <a:rPr dirty="0" sz="2500" spc="3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500" spc="-50">
                <a:solidFill>
                  <a:srgbClr val="495262"/>
                </a:solidFill>
                <a:latin typeface="Arial"/>
                <a:cs typeface="Arial"/>
              </a:rPr>
              <a:t>ve</a:t>
            </a:r>
            <a:r>
              <a:rPr dirty="0" sz="2500" spc="-28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500" spc="-25">
                <a:solidFill>
                  <a:srgbClr val="495262"/>
                </a:solidFill>
                <a:latin typeface="Arial"/>
                <a:cs typeface="Arial"/>
              </a:rPr>
              <a:t>dinlediginiz</a:t>
            </a:r>
            <a:r>
              <a:rPr dirty="0" sz="2500" spc="-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500" spc="-155">
                <a:solidFill>
                  <a:srgbClr val="495262"/>
                </a:solidFill>
                <a:latin typeface="Arial"/>
                <a:cs typeface="Arial"/>
              </a:rPr>
              <a:t>ic;in</a:t>
            </a:r>
            <a:r>
              <a:rPr dirty="0" sz="2500" spc="-229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500" spc="-195">
                <a:solidFill>
                  <a:srgbClr val="495262"/>
                </a:solidFill>
                <a:latin typeface="Arial"/>
                <a:cs typeface="Arial"/>
              </a:rPr>
              <a:t>te�ekkOr</a:t>
            </a:r>
            <a:r>
              <a:rPr dirty="0" sz="2500" spc="5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495262"/>
                </a:solidFill>
                <a:latin typeface="Arial"/>
                <a:cs typeface="Arial"/>
              </a:rPr>
              <a:t>ederim.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25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2100" spc="135">
                <a:solidFill>
                  <a:srgbClr val="677282"/>
                </a:solidFill>
                <a:latin typeface="Arial"/>
                <a:cs typeface="Arial"/>
              </a:rPr>
              <a:t>Bitirme</a:t>
            </a:r>
            <a:r>
              <a:rPr dirty="0" sz="2100" spc="-295">
                <a:solidFill>
                  <a:srgbClr val="677282"/>
                </a:solidFill>
                <a:latin typeface="Arial"/>
                <a:cs typeface="Arial"/>
              </a:rPr>
              <a:t> </a:t>
            </a:r>
            <a:r>
              <a:rPr dirty="0" sz="2100" spc="50">
                <a:solidFill>
                  <a:srgbClr val="677282"/>
                </a:solidFill>
                <a:latin typeface="Arial"/>
                <a:cs typeface="Arial"/>
              </a:rPr>
              <a:t>Odevi</a:t>
            </a:r>
            <a:r>
              <a:rPr dirty="0" sz="2100" spc="-110">
                <a:solidFill>
                  <a:srgbClr val="677282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677282"/>
                </a:solidFill>
                <a:latin typeface="Arial"/>
                <a:cs typeface="Arial"/>
              </a:rPr>
              <a:t>Sunumu</a:t>
            </a:r>
            <a:r>
              <a:rPr dirty="0" sz="2100" spc="-170">
                <a:solidFill>
                  <a:srgbClr val="677282"/>
                </a:solidFill>
                <a:latin typeface="Arial"/>
                <a:cs typeface="Arial"/>
              </a:rPr>
              <a:t> </a:t>
            </a:r>
            <a:r>
              <a:rPr dirty="0" sz="3000" spc="-95">
                <a:solidFill>
                  <a:srgbClr val="677282"/>
                </a:solidFill>
                <a:latin typeface="Arial"/>
                <a:cs typeface="Arial"/>
              </a:rPr>
              <a:t>I</a:t>
            </a:r>
            <a:r>
              <a:rPr dirty="0" sz="2100" spc="-95">
                <a:solidFill>
                  <a:srgbClr val="677282"/>
                </a:solidFill>
                <a:latin typeface="Arial"/>
                <a:cs typeface="Arial"/>
              </a:rPr>
              <a:t>Ak1�kan</a:t>
            </a:r>
            <a:r>
              <a:rPr dirty="0" sz="2100" spc="-130">
                <a:solidFill>
                  <a:srgbClr val="677282"/>
                </a:solidFill>
                <a:latin typeface="Arial"/>
                <a:cs typeface="Arial"/>
              </a:rPr>
              <a:t> </a:t>
            </a:r>
            <a:r>
              <a:rPr dirty="0" sz="2100" spc="70">
                <a:solidFill>
                  <a:srgbClr val="677282"/>
                </a:solidFill>
                <a:latin typeface="Arial"/>
                <a:cs typeface="Arial"/>
              </a:rPr>
              <a:t>ve</a:t>
            </a:r>
            <a:r>
              <a:rPr dirty="0" sz="2100" spc="-370">
                <a:solidFill>
                  <a:srgbClr val="677282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677282"/>
                </a:solidFill>
                <a:latin typeface="Arial"/>
                <a:cs typeface="Arial"/>
              </a:rPr>
              <a:t>&lt;;evrim</a:t>
            </a:r>
            <a:r>
              <a:rPr dirty="0" sz="2100" spc="-114">
                <a:solidFill>
                  <a:srgbClr val="677282"/>
                </a:solidFill>
                <a:latin typeface="Arial"/>
                <a:cs typeface="Arial"/>
              </a:rPr>
              <a:t> </a:t>
            </a:r>
            <a:r>
              <a:rPr dirty="0" sz="2100" spc="55">
                <a:solidFill>
                  <a:srgbClr val="677282"/>
                </a:solidFill>
                <a:latin typeface="Arial"/>
                <a:cs typeface="Arial"/>
              </a:rPr>
              <a:t>Optimizasyonu</a:t>
            </a:r>
            <a:r>
              <a:rPr dirty="0" sz="2100" spc="5">
                <a:solidFill>
                  <a:srgbClr val="677282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677282"/>
                </a:solidFill>
                <a:latin typeface="Arial"/>
                <a:cs typeface="Arial"/>
              </a:rPr>
              <a:t>Analizi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2026-06-15T05:48:21Z</dcterms:created>
  <dcterms:modified xsi:type="dcterms:W3CDTF">2026-06-15T05:48:21Z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2026-06-15T00:00:00Z</vt:filetime>
  </property>
  <property fmtid="{D5CDD505-2E9C-101B-9397-08002B2CF9AE}" pid="3" name="LastSaved">
    <vt:filetime>2026-06-15T00:00:00Z</vt:filetime>
  </property>
</Properties>
</file>